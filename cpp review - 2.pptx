
<file path=[Content_Types].xml><?xml version="1.0" encoding="utf-8"?>
<Types xmlns="http://schemas.openxmlformats.org/package/2006/content-types">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66" r:id="rId1"/>
  </p:sldMasterIdLst>
  <p:notesMasterIdLst>
    <p:notesMasterId r:id="rId19"/>
  </p:notesMasterIdLst>
  <p:sldIdLst>
    <p:sldId id="284" r:id="rId2"/>
    <p:sldId id="265" r:id="rId3"/>
    <p:sldId id="266" r:id="rId4"/>
    <p:sldId id="267" r:id="rId5"/>
    <p:sldId id="268" r:id="rId6"/>
    <p:sldId id="281" r:id="rId7"/>
    <p:sldId id="291" r:id="rId8"/>
    <p:sldId id="286" r:id="rId9"/>
    <p:sldId id="287" r:id="rId10"/>
    <p:sldId id="288" r:id="rId11"/>
    <p:sldId id="289" r:id="rId12"/>
    <p:sldId id="273" r:id="rId13"/>
    <p:sldId id="274" r:id="rId14"/>
    <p:sldId id="290" r:id="rId15"/>
    <p:sldId id="285" r:id="rId16"/>
    <p:sldId id="282" r:id="rId17"/>
    <p:sldId id="280" r:id="rId18"/>
  </p:sldIdLst>
  <p:sldSz cx="12192000" cy="6858000"/>
  <p:notesSz cx="12192000" cy="6858000"/>
  <p:embeddedFontLst>
    <p:embeddedFont>
      <p:font typeface="Bookman Old Style" panose="02050604050505020204" pitchFamily="18" charset="0"/>
      <p:regular r:id="rId20"/>
      <p:bold r:id="rId21"/>
      <p:italic r:id="rId22"/>
      <p:boldItalic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42F484E2-D13C-4198-809A-BEC5E46278DC}" styleName="Style 3">
    <a:wholeTbl>
      <a:tcTxStyle>
        <a:fontRef idx="minor">
          <a:srgbClr val="000000"/>
        </a:fontRef>
        <a:schemeClr val="tx1"/>
      </a:tcTxStyle>
      <a:tcStyle>
        <a:tcBdr>
          <a:left>
            <a:ln w="12700">
              <a:solidFill>
                <a:schemeClr val="accent1"/>
              </a:solidFill>
            </a:ln>
          </a:left>
          <a:right>
            <a:ln w="12700">
              <a:solidFill>
                <a:schemeClr val="accent1"/>
              </a:solidFill>
            </a:ln>
          </a:right>
          <a:top>
            <a:ln w="12700">
              <a:solidFill>
                <a:schemeClr val="accent1"/>
              </a:solidFill>
            </a:ln>
          </a:top>
          <a:bottom>
            <a:ln w="12700">
              <a:solidFill>
                <a:schemeClr val="accent1"/>
              </a:solidFill>
            </a:ln>
          </a:bottom>
          <a:insideH>
            <a:ln w="12700">
              <a:solidFill>
                <a:schemeClr val="accent1"/>
              </a:solidFill>
            </a:ln>
          </a:insideH>
          <a:insideV>
            <a:ln w="12700">
              <a:solidFill>
                <a:schemeClr val="accent1"/>
              </a:solidFill>
            </a:ln>
          </a:insideV>
        </a:tcBdr>
        <a:fill>
          <a:noFill/>
        </a:fill>
      </a:tcStyle>
    </a:wholeTbl>
    <a:band1H>
      <a:tcStyle>
        <a:tcBdr/>
        <a:fill>
          <a:solidFill>
            <a:schemeClr val="accent1">
              <a:alpha val="19999"/>
            </a:schemeClr>
          </a:solidFill>
        </a:fill>
      </a:tcStyle>
    </a:band1H>
    <a:band1V>
      <a:tcStyle>
        <a:tcBdr/>
        <a:fill>
          <a:solidFill>
            <a:schemeClr val="accent1">
              <a:alpha val="19999"/>
            </a:schemeClr>
          </a:solidFill>
        </a:fill>
      </a:tcStyle>
    </a:band1V>
    <a:lastCol>
      <a:tcTxStyle b="on"/>
      <a:tcStyle>
        <a:tcBdr/>
      </a:tcStyle>
    </a:lastCol>
    <a:firstCol>
      <a:tcTxStyle b="on"/>
      <a:tcStyle>
        <a:tcBdr/>
      </a:tcStyle>
    </a:firstCol>
    <a:lastRow>
      <a:tcTxStyle b="on"/>
      <a:tcStyle>
        <a:tcBdr>
          <a:top>
            <a:ln w="50800">
              <a:solidFill>
                <a:schemeClr val="accent1"/>
              </a:solidFill>
            </a:ln>
          </a:top>
        </a:tcBdr>
        <a:fill>
          <a:noFill/>
        </a:fill>
      </a:tcStyle>
    </a:lastRow>
    <a:firstRow>
      <a:tcTxStyle b="on"/>
      <a:tcStyle>
        <a:tcBdr>
          <a:bottom>
            <a:ln w="25400">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1"/>
    <p:restoredTop sz="93151" autoAdjust="0"/>
  </p:normalViewPr>
  <p:slideViewPr>
    <p:cSldViewPr snapToGrid="0">
      <p:cViewPr varScale="1">
        <p:scale>
          <a:sx n="110" d="100"/>
          <a:sy n="110" d="100"/>
        </p:scale>
        <p:origin x="208" y="35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B65459-4C01-9248-BDAA-F28591FAF6F5}" type="datetimeFigureOut">
              <a:rPr lang="en-US" smtClean="0"/>
              <a:pPr/>
              <a:t>10/24/26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327042-6B61-B148-8485-8BBBFAA13D24}" type="slidenum">
              <a:rPr lang="en-US" smtClean="0"/>
              <a:pPr/>
              <a:t>‹#›</a:t>
            </a:fld>
            <a:endParaRPr lang="en-US"/>
          </a:p>
        </p:txBody>
      </p:sp>
    </p:spTree>
    <p:extLst>
      <p:ext uri="{BB962C8B-B14F-4D97-AF65-F5344CB8AC3E}">
        <p14:creationId xmlns:p14="http://schemas.microsoft.com/office/powerpoint/2010/main" val="1080321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548DE-2899-46F7-ADA5-C755B2CC99E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8DEB116-15F3-4128-AD6F-0236C0B49D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8500652-998A-45A7-BFC2-58723724595B}"/>
              </a:ext>
            </a:extLst>
          </p:cNvPr>
          <p:cNvSpPr>
            <a:spLocks noGrp="1"/>
          </p:cNvSpPr>
          <p:nvPr>
            <p:ph type="dt" sz="half" idx="10"/>
          </p:nvPr>
        </p:nvSpPr>
        <p:spPr/>
        <p:txBody>
          <a:bodyPr/>
          <a:lstStyle/>
          <a:p>
            <a:r>
              <a:rPr lang="en-US"/>
              <a:t>Date</a:t>
            </a:r>
          </a:p>
        </p:txBody>
      </p:sp>
      <p:sp>
        <p:nvSpPr>
          <p:cNvPr id="5" name="Footer Placeholder 4">
            <a:extLst>
              <a:ext uri="{FF2B5EF4-FFF2-40B4-BE49-F238E27FC236}">
                <a16:creationId xmlns:a16="http://schemas.microsoft.com/office/drawing/2014/main" id="{C79DBD0D-7569-4CA7-82F9-FA30ED1A7FE5}"/>
              </a:ext>
            </a:extLst>
          </p:cNvPr>
          <p:cNvSpPr>
            <a:spLocks noGrp="1"/>
          </p:cNvSpPr>
          <p:nvPr>
            <p:ph type="ftr" sz="quarter" idx="11"/>
          </p:nvPr>
        </p:nvSpPr>
        <p:spPr/>
        <p:txBody>
          <a:bodyPr/>
          <a:lstStyle/>
          <a:p>
            <a:r>
              <a:rPr lang="en-US"/>
              <a:t>Footer</a:t>
            </a:r>
          </a:p>
        </p:txBody>
      </p:sp>
      <p:sp>
        <p:nvSpPr>
          <p:cNvPr id="6" name="Slide Number Placeholder 5">
            <a:extLst>
              <a:ext uri="{FF2B5EF4-FFF2-40B4-BE49-F238E27FC236}">
                <a16:creationId xmlns:a16="http://schemas.microsoft.com/office/drawing/2014/main" id="{5D3748E1-198B-4159-8306-616A2AEC2E09}"/>
              </a:ext>
            </a:extLst>
          </p:cNvPr>
          <p:cNvSpPr>
            <a:spLocks noGrp="1"/>
          </p:cNvSpPr>
          <p:nvPr>
            <p:ph type="sldNum" sz="quarter" idx="12"/>
          </p:nvPr>
        </p:nvSpPr>
        <p:spPr/>
        <p:txBody>
          <a:bodyPr/>
          <a:lstStyle/>
          <a:p>
            <a:r>
              <a:rPr lang="en-US"/>
              <a:t>&lt;#&gt;</a:t>
            </a:r>
          </a:p>
        </p:txBody>
      </p:sp>
      <p:pic>
        <p:nvPicPr>
          <p:cNvPr id="7" name="Picture 6">
            <a:extLst>
              <a:ext uri="{FF2B5EF4-FFF2-40B4-BE49-F238E27FC236}">
                <a16:creationId xmlns:a16="http://schemas.microsoft.com/office/drawing/2014/main" id="{DA0A7A45-4C18-4BD0-97D6-D8CB0C02E898}"/>
              </a:ext>
              <a:ext uri="{C1EB77FD-C848-422B-B273-451CDA41F43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1682ECF-C071-4F62-8564-87ABCCA31ACA}"/>
              </a:ext>
            </a:extLst>
          </p:cNvPr>
          <p:cNvPicPr>
            <a:picLocks noChangeAspect="1"/>
          </p:cNvPicPr>
          <p:nvPr userDrawn="1"/>
        </p:nvPicPr>
        <p:blipFill>
          <a:blip r:embed="rId2"/>
          <a:stretch>
            <a:fillRect/>
          </a:stretch>
        </p:blipFill>
        <p:spPr>
          <a:xfrm>
            <a:off x="2567608" y="592088"/>
            <a:ext cx="7609140" cy="1008112"/>
          </a:xfrm>
          <a:prstGeom prst="rect">
            <a:avLst/>
          </a:prstGeom>
          <a:noFill/>
        </p:spPr>
      </p:pic>
    </p:spTree>
    <p:extLst>
      <p:ext uri="{BB962C8B-B14F-4D97-AF65-F5344CB8AC3E}">
        <p14:creationId xmlns:p14="http://schemas.microsoft.com/office/powerpoint/2010/main" val="33470693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6D046-AB8C-46E8-995B-2350D7F1716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9E9CE34-2D78-4480-A726-D58BCE14015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A30F991-AA0E-4A91-90B8-E8460A785CF4}"/>
              </a:ext>
            </a:extLst>
          </p:cNvPr>
          <p:cNvSpPr>
            <a:spLocks noGrp="1"/>
          </p:cNvSpPr>
          <p:nvPr>
            <p:ph type="dt" sz="half" idx="10"/>
          </p:nvPr>
        </p:nvSpPr>
        <p:spPr/>
        <p:txBody>
          <a:bodyPr/>
          <a:lstStyle/>
          <a:p>
            <a:fld id="{A0623D07-B41D-4865-9117-A59235B241FC}" type="datetime1">
              <a:rPr lang="en-US" smtClean="0"/>
              <a:pPr/>
              <a:t>10/24/26</a:t>
            </a:fld>
            <a:endParaRPr lang="en-US"/>
          </a:p>
        </p:txBody>
      </p:sp>
      <p:sp>
        <p:nvSpPr>
          <p:cNvPr id="5" name="Footer Placeholder 4">
            <a:extLst>
              <a:ext uri="{FF2B5EF4-FFF2-40B4-BE49-F238E27FC236}">
                <a16:creationId xmlns:a16="http://schemas.microsoft.com/office/drawing/2014/main" id="{B70E9590-1543-444D-B631-28E2B81E5816}"/>
              </a:ext>
            </a:extLst>
          </p:cNvPr>
          <p:cNvSpPr>
            <a:spLocks noGrp="1"/>
          </p:cNvSpPr>
          <p:nvPr>
            <p:ph type="ftr" sz="quarter" idx="11"/>
          </p:nvPr>
        </p:nvSpPr>
        <p:spPr/>
        <p:txBody>
          <a:bodyPr/>
          <a:lstStyle/>
          <a:p>
            <a:r>
              <a:rPr lang="en-US"/>
              <a:t>DL&amp;CO                                                                G.LAVARAJU, Associate Professor, CSE</a:t>
            </a:r>
          </a:p>
        </p:txBody>
      </p:sp>
      <p:sp>
        <p:nvSpPr>
          <p:cNvPr id="6" name="Slide Number Placeholder 5">
            <a:extLst>
              <a:ext uri="{FF2B5EF4-FFF2-40B4-BE49-F238E27FC236}">
                <a16:creationId xmlns:a16="http://schemas.microsoft.com/office/drawing/2014/main" id="{03E4FB6E-8576-4733-B0E4-99684EEB6A5C}"/>
              </a:ext>
            </a:extLst>
          </p:cNvPr>
          <p:cNvSpPr>
            <a:spLocks noGrp="1"/>
          </p:cNvSpPr>
          <p:nvPr>
            <p:ph type="sldNum" sz="quarter" idx="12"/>
          </p:nvPr>
        </p:nvSpPr>
        <p:spPr/>
        <p:txBody>
          <a:bodyPr/>
          <a:lstStyle/>
          <a:p>
            <a:fld id="{C0FA9481-3A84-418C-9FCC-1F8C2D158F80}" type="slidenum">
              <a:rPr lang="en-IN" smtClean="0"/>
              <a:pPr/>
              <a:t>‹#›</a:t>
            </a:fld>
            <a:endParaRPr lang="en-IN"/>
          </a:p>
        </p:txBody>
      </p:sp>
    </p:spTree>
    <p:extLst>
      <p:ext uri="{BB962C8B-B14F-4D97-AF65-F5344CB8AC3E}">
        <p14:creationId xmlns:p14="http://schemas.microsoft.com/office/powerpoint/2010/main" val="274706842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49E6B-D5A3-4E7D-BB39-179D6C58FA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49D9F02-C324-426A-B926-9F6CEB81D27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C8A1815-8F10-4C08-AD0D-75293F5076DE}"/>
              </a:ext>
            </a:extLst>
          </p:cNvPr>
          <p:cNvSpPr>
            <a:spLocks noGrp="1"/>
          </p:cNvSpPr>
          <p:nvPr>
            <p:ph type="dt" sz="half" idx="10"/>
          </p:nvPr>
        </p:nvSpPr>
        <p:spPr/>
        <p:txBody>
          <a:bodyPr/>
          <a:lstStyle/>
          <a:p>
            <a:fld id="{A0623D07-B41D-4865-9117-A59235B241FC}" type="datetime1">
              <a:rPr lang="en-US" smtClean="0"/>
              <a:pPr/>
              <a:t>10/24/26</a:t>
            </a:fld>
            <a:endParaRPr lang="en-US"/>
          </a:p>
        </p:txBody>
      </p:sp>
      <p:sp>
        <p:nvSpPr>
          <p:cNvPr id="5" name="Footer Placeholder 4">
            <a:extLst>
              <a:ext uri="{FF2B5EF4-FFF2-40B4-BE49-F238E27FC236}">
                <a16:creationId xmlns:a16="http://schemas.microsoft.com/office/drawing/2014/main" id="{65DECADD-D619-4ABF-B367-8D9F283A5770}"/>
              </a:ext>
            </a:extLst>
          </p:cNvPr>
          <p:cNvSpPr>
            <a:spLocks noGrp="1"/>
          </p:cNvSpPr>
          <p:nvPr>
            <p:ph type="ftr" sz="quarter" idx="11"/>
          </p:nvPr>
        </p:nvSpPr>
        <p:spPr/>
        <p:txBody>
          <a:bodyPr/>
          <a:lstStyle/>
          <a:p>
            <a:r>
              <a:rPr lang="en-US"/>
              <a:t>DL&amp;CO                                                                G.LAVARAJU, Associate Professor, CSE</a:t>
            </a:r>
          </a:p>
        </p:txBody>
      </p:sp>
      <p:sp>
        <p:nvSpPr>
          <p:cNvPr id="6" name="Slide Number Placeholder 5">
            <a:extLst>
              <a:ext uri="{FF2B5EF4-FFF2-40B4-BE49-F238E27FC236}">
                <a16:creationId xmlns:a16="http://schemas.microsoft.com/office/drawing/2014/main" id="{8BB3E8BE-F19E-4C3E-837D-24D0731D4673}"/>
              </a:ext>
            </a:extLst>
          </p:cNvPr>
          <p:cNvSpPr>
            <a:spLocks noGrp="1"/>
          </p:cNvSpPr>
          <p:nvPr>
            <p:ph type="sldNum" sz="quarter" idx="12"/>
          </p:nvPr>
        </p:nvSpPr>
        <p:spPr/>
        <p:txBody>
          <a:bodyPr/>
          <a:lstStyle/>
          <a:p>
            <a:fld id="{C0FA9481-3A84-418C-9FCC-1F8C2D158F80}" type="slidenum">
              <a:rPr lang="en-IN" smtClean="0"/>
              <a:pPr/>
              <a:t>‹#›</a:t>
            </a:fld>
            <a:endParaRPr lang="en-IN"/>
          </a:p>
        </p:txBody>
      </p:sp>
    </p:spTree>
    <p:extLst>
      <p:ext uri="{BB962C8B-B14F-4D97-AF65-F5344CB8AC3E}">
        <p14:creationId xmlns:p14="http://schemas.microsoft.com/office/powerpoint/2010/main" val="11870923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76C44-2A6C-47A0-BECE-CEC70FCC85E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F67764A-0B26-4818-9221-2EE96A1A2C4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61D7924-9D8D-41B2-B690-3D8D980865C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BCE492-E5BA-496E-B310-0F1B32FE2219}"/>
              </a:ext>
            </a:extLst>
          </p:cNvPr>
          <p:cNvSpPr>
            <a:spLocks noGrp="1"/>
          </p:cNvSpPr>
          <p:nvPr>
            <p:ph type="dt" sz="half" idx="10"/>
          </p:nvPr>
        </p:nvSpPr>
        <p:spPr/>
        <p:txBody>
          <a:bodyPr/>
          <a:lstStyle/>
          <a:p>
            <a:fld id="{A0623D07-B41D-4865-9117-A59235B241FC}" type="datetime1">
              <a:rPr lang="en-US" smtClean="0"/>
              <a:pPr/>
              <a:t>10/24/26</a:t>
            </a:fld>
            <a:endParaRPr lang="en-US"/>
          </a:p>
        </p:txBody>
      </p:sp>
      <p:sp>
        <p:nvSpPr>
          <p:cNvPr id="6" name="Footer Placeholder 5">
            <a:extLst>
              <a:ext uri="{FF2B5EF4-FFF2-40B4-BE49-F238E27FC236}">
                <a16:creationId xmlns:a16="http://schemas.microsoft.com/office/drawing/2014/main" id="{9699C41F-3222-4EA1-9A78-418041711395}"/>
              </a:ext>
            </a:extLst>
          </p:cNvPr>
          <p:cNvSpPr>
            <a:spLocks noGrp="1"/>
          </p:cNvSpPr>
          <p:nvPr>
            <p:ph type="ftr" sz="quarter" idx="11"/>
          </p:nvPr>
        </p:nvSpPr>
        <p:spPr/>
        <p:txBody>
          <a:bodyPr/>
          <a:lstStyle/>
          <a:p>
            <a:r>
              <a:rPr lang="en-US"/>
              <a:t>DL&amp;CO                                                                G.LAVARAJU, Associate Professor, CSE</a:t>
            </a:r>
          </a:p>
        </p:txBody>
      </p:sp>
      <p:sp>
        <p:nvSpPr>
          <p:cNvPr id="7" name="Slide Number Placeholder 6">
            <a:extLst>
              <a:ext uri="{FF2B5EF4-FFF2-40B4-BE49-F238E27FC236}">
                <a16:creationId xmlns:a16="http://schemas.microsoft.com/office/drawing/2014/main" id="{E076F092-68EE-4A5A-850E-30E503F7A76B}"/>
              </a:ext>
            </a:extLst>
          </p:cNvPr>
          <p:cNvSpPr>
            <a:spLocks noGrp="1"/>
          </p:cNvSpPr>
          <p:nvPr>
            <p:ph type="sldNum" sz="quarter" idx="12"/>
          </p:nvPr>
        </p:nvSpPr>
        <p:spPr/>
        <p:txBody>
          <a:bodyPr/>
          <a:lstStyle/>
          <a:p>
            <a:fld id="{C0FA9481-3A84-418C-9FCC-1F8C2D158F80}" type="slidenum">
              <a:rPr lang="en-IN" smtClean="0"/>
              <a:pPr/>
              <a:t>‹#›</a:t>
            </a:fld>
            <a:endParaRPr lang="en-IN"/>
          </a:p>
        </p:txBody>
      </p:sp>
    </p:spTree>
    <p:extLst>
      <p:ext uri="{BB962C8B-B14F-4D97-AF65-F5344CB8AC3E}">
        <p14:creationId xmlns:p14="http://schemas.microsoft.com/office/powerpoint/2010/main" val="104484746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553E-8647-43FB-8753-4CEE6A2AE42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2DDC1C6-6DF4-4365-896F-2D5A271286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40415FF-340C-4DDA-B314-FD5904A7B31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D430E5F-10BA-4EE6-86EE-57E4C1AE79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191435F-6F42-45A5-B558-844BD9F9C68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485FD9C-38C0-46AE-B96A-FD0C1FC55FBA}"/>
              </a:ext>
            </a:extLst>
          </p:cNvPr>
          <p:cNvSpPr>
            <a:spLocks noGrp="1"/>
          </p:cNvSpPr>
          <p:nvPr>
            <p:ph type="dt" sz="half" idx="10"/>
          </p:nvPr>
        </p:nvSpPr>
        <p:spPr/>
        <p:txBody>
          <a:bodyPr/>
          <a:lstStyle/>
          <a:p>
            <a:fld id="{A0623D07-B41D-4865-9117-A59235B241FC}" type="datetime1">
              <a:rPr lang="en-US" smtClean="0"/>
              <a:pPr/>
              <a:t>10/24/26</a:t>
            </a:fld>
            <a:endParaRPr lang="en-US"/>
          </a:p>
        </p:txBody>
      </p:sp>
      <p:sp>
        <p:nvSpPr>
          <p:cNvPr id="8" name="Footer Placeholder 7">
            <a:extLst>
              <a:ext uri="{FF2B5EF4-FFF2-40B4-BE49-F238E27FC236}">
                <a16:creationId xmlns:a16="http://schemas.microsoft.com/office/drawing/2014/main" id="{9E117E1C-1BC4-4EA5-8929-9511C2E7F976}"/>
              </a:ext>
            </a:extLst>
          </p:cNvPr>
          <p:cNvSpPr>
            <a:spLocks noGrp="1"/>
          </p:cNvSpPr>
          <p:nvPr>
            <p:ph type="ftr" sz="quarter" idx="11"/>
          </p:nvPr>
        </p:nvSpPr>
        <p:spPr/>
        <p:txBody>
          <a:bodyPr/>
          <a:lstStyle/>
          <a:p>
            <a:r>
              <a:rPr lang="en-US"/>
              <a:t>DL&amp;CO                                                                G.LAVARAJU, Associate Professor, CSE</a:t>
            </a:r>
          </a:p>
        </p:txBody>
      </p:sp>
      <p:sp>
        <p:nvSpPr>
          <p:cNvPr id="9" name="Slide Number Placeholder 8">
            <a:extLst>
              <a:ext uri="{FF2B5EF4-FFF2-40B4-BE49-F238E27FC236}">
                <a16:creationId xmlns:a16="http://schemas.microsoft.com/office/drawing/2014/main" id="{159F4D30-CFCD-470E-8939-03A464493EEE}"/>
              </a:ext>
            </a:extLst>
          </p:cNvPr>
          <p:cNvSpPr>
            <a:spLocks noGrp="1"/>
          </p:cNvSpPr>
          <p:nvPr>
            <p:ph type="sldNum" sz="quarter" idx="12"/>
          </p:nvPr>
        </p:nvSpPr>
        <p:spPr/>
        <p:txBody>
          <a:bodyPr/>
          <a:lstStyle/>
          <a:p>
            <a:fld id="{C0FA9481-3A84-418C-9FCC-1F8C2D158F80}" type="slidenum">
              <a:rPr lang="en-IN" smtClean="0"/>
              <a:pPr/>
              <a:t>‹#›</a:t>
            </a:fld>
            <a:endParaRPr lang="en-IN"/>
          </a:p>
        </p:txBody>
      </p:sp>
    </p:spTree>
    <p:extLst>
      <p:ext uri="{BB962C8B-B14F-4D97-AF65-F5344CB8AC3E}">
        <p14:creationId xmlns:p14="http://schemas.microsoft.com/office/powerpoint/2010/main" val="411182479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C812C-8298-4B68-AF1E-91E2E37D257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A4E59DF-2AE1-45E2-A325-C12FE09D86FC}"/>
              </a:ext>
            </a:extLst>
          </p:cNvPr>
          <p:cNvSpPr>
            <a:spLocks noGrp="1"/>
          </p:cNvSpPr>
          <p:nvPr>
            <p:ph type="dt" sz="half" idx="10"/>
          </p:nvPr>
        </p:nvSpPr>
        <p:spPr/>
        <p:txBody>
          <a:bodyPr/>
          <a:lstStyle/>
          <a:p>
            <a:fld id="{A0623D07-B41D-4865-9117-A59235B241FC}" type="datetime1">
              <a:rPr lang="en-US" smtClean="0"/>
              <a:pPr/>
              <a:t>10/24/26</a:t>
            </a:fld>
            <a:endParaRPr lang="en-US"/>
          </a:p>
        </p:txBody>
      </p:sp>
      <p:sp>
        <p:nvSpPr>
          <p:cNvPr id="4" name="Footer Placeholder 3">
            <a:extLst>
              <a:ext uri="{FF2B5EF4-FFF2-40B4-BE49-F238E27FC236}">
                <a16:creationId xmlns:a16="http://schemas.microsoft.com/office/drawing/2014/main" id="{E12543E3-A38A-412B-9EE4-E540CE15ECFC}"/>
              </a:ext>
            </a:extLst>
          </p:cNvPr>
          <p:cNvSpPr>
            <a:spLocks noGrp="1"/>
          </p:cNvSpPr>
          <p:nvPr>
            <p:ph type="ftr" sz="quarter" idx="11"/>
          </p:nvPr>
        </p:nvSpPr>
        <p:spPr/>
        <p:txBody>
          <a:bodyPr/>
          <a:lstStyle/>
          <a:p>
            <a:r>
              <a:rPr lang="en-US"/>
              <a:t>DL&amp;CO                                                                G.LAVARAJU, Associate Professor, CSE</a:t>
            </a:r>
          </a:p>
        </p:txBody>
      </p:sp>
      <p:sp>
        <p:nvSpPr>
          <p:cNvPr id="5" name="Slide Number Placeholder 4">
            <a:extLst>
              <a:ext uri="{FF2B5EF4-FFF2-40B4-BE49-F238E27FC236}">
                <a16:creationId xmlns:a16="http://schemas.microsoft.com/office/drawing/2014/main" id="{1DD7B675-A4AE-4BB3-ADC8-960F4892AB6B}"/>
              </a:ext>
            </a:extLst>
          </p:cNvPr>
          <p:cNvSpPr>
            <a:spLocks noGrp="1"/>
          </p:cNvSpPr>
          <p:nvPr>
            <p:ph type="sldNum" sz="quarter" idx="12"/>
          </p:nvPr>
        </p:nvSpPr>
        <p:spPr/>
        <p:txBody>
          <a:bodyPr/>
          <a:lstStyle/>
          <a:p>
            <a:fld id="{C0FA9481-3A84-418C-9FCC-1F8C2D158F80}" type="slidenum">
              <a:rPr lang="en-IN" smtClean="0"/>
              <a:pPr/>
              <a:t>‹#›</a:t>
            </a:fld>
            <a:endParaRPr lang="en-IN"/>
          </a:p>
        </p:txBody>
      </p:sp>
    </p:spTree>
    <p:extLst>
      <p:ext uri="{BB962C8B-B14F-4D97-AF65-F5344CB8AC3E}">
        <p14:creationId xmlns:p14="http://schemas.microsoft.com/office/powerpoint/2010/main" val="375068566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9DC874-00A7-4017-AEE1-A40500423102}"/>
              </a:ext>
            </a:extLst>
          </p:cNvPr>
          <p:cNvSpPr>
            <a:spLocks noGrp="1"/>
          </p:cNvSpPr>
          <p:nvPr>
            <p:ph type="dt" sz="half" idx="10"/>
          </p:nvPr>
        </p:nvSpPr>
        <p:spPr/>
        <p:txBody>
          <a:bodyPr/>
          <a:lstStyle/>
          <a:p>
            <a:fld id="{B13D2877-58CC-4844-975B-B8D6496C43E9}" type="datetime1">
              <a:rPr lang="en-US" smtClean="0"/>
              <a:pPr/>
              <a:t>10/24/26</a:t>
            </a:fld>
            <a:endParaRPr lang="en-US"/>
          </a:p>
        </p:txBody>
      </p:sp>
      <p:sp>
        <p:nvSpPr>
          <p:cNvPr id="3" name="Footer Placeholder 2">
            <a:extLst>
              <a:ext uri="{FF2B5EF4-FFF2-40B4-BE49-F238E27FC236}">
                <a16:creationId xmlns:a16="http://schemas.microsoft.com/office/drawing/2014/main" id="{376BA166-0AD7-4A2B-A676-55CF2B51B16F}"/>
              </a:ext>
            </a:extLst>
          </p:cNvPr>
          <p:cNvSpPr>
            <a:spLocks noGrp="1"/>
          </p:cNvSpPr>
          <p:nvPr>
            <p:ph type="ftr" sz="quarter" idx="11"/>
          </p:nvPr>
        </p:nvSpPr>
        <p:spPr/>
        <p:txBody>
          <a:bodyPr/>
          <a:lstStyle/>
          <a:p>
            <a:r>
              <a:rPr lang="en-US"/>
              <a:t>DL&amp;CO                                                                G.LAVARAJU, Associate Professor, CSE</a:t>
            </a:r>
          </a:p>
        </p:txBody>
      </p:sp>
      <p:sp>
        <p:nvSpPr>
          <p:cNvPr id="4" name="Slide Number Placeholder 3">
            <a:extLst>
              <a:ext uri="{FF2B5EF4-FFF2-40B4-BE49-F238E27FC236}">
                <a16:creationId xmlns:a16="http://schemas.microsoft.com/office/drawing/2014/main" id="{8B8C6129-0AD3-4C0C-AF9B-302AA0BD857E}"/>
              </a:ext>
            </a:extLst>
          </p:cNvPr>
          <p:cNvSpPr>
            <a:spLocks noGrp="1"/>
          </p:cNvSpPr>
          <p:nvPr>
            <p:ph type="sldNum" sz="quarter" idx="12"/>
          </p:nvPr>
        </p:nvSpPr>
        <p:spPr/>
        <p:txBody>
          <a:bodyPr/>
          <a:lstStyle/>
          <a:p>
            <a:fld id="{D9C5B093-D3DD-4808-813A-F58BF8E67773}" type="slidenum">
              <a:rPr lang="en-IN" smtClean="0"/>
              <a:pPr/>
              <a:t>‹#›</a:t>
            </a:fld>
            <a:endParaRPr lang="en-IN"/>
          </a:p>
        </p:txBody>
      </p:sp>
      <p:pic>
        <p:nvPicPr>
          <p:cNvPr id="5" name="Picture 2">
            <a:extLst>
              <a:ext uri="{FF2B5EF4-FFF2-40B4-BE49-F238E27FC236}">
                <a16:creationId xmlns:a16="http://schemas.microsoft.com/office/drawing/2014/main" id="{791044B2-3205-4BD1-AA78-868784269CF6}"/>
              </a:ext>
              <a:ext uri="{2A124749-B5E7-4428-BF59-41C47B6A612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8CFA2DB-E1A9-463A-BC5A-35A8CCF5293E}"/>
              </a:ext>
            </a:extLst>
          </p:cNvPr>
          <p:cNvPicPr>
            <a:picLocks noChangeAspect="1" noChangeArrowheads="1"/>
          </p:cNvPicPr>
          <p:nvPr userDrawn="1"/>
        </p:nvPicPr>
        <p:blipFill>
          <a:blip r:embed="rId2"/>
          <a:stretch>
            <a:fillRect/>
          </a:stretch>
        </p:blipFill>
        <p:spPr>
          <a:xfrm>
            <a:off x="-240709" y="-243408"/>
            <a:ext cx="3249644" cy="1800000"/>
          </a:xfrm>
          <a:prstGeom prst="rect">
            <a:avLst/>
          </a:prstGeom>
          <a:noFill/>
        </p:spPr>
      </p:pic>
    </p:spTree>
    <p:extLst>
      <p:ext uri="{BB962C8B-B14F-4D97-AF65-F5344CB8AC3E}">
        <p14:creationId xmlns:p14="http://schemas.microsoft.com/office/powerpoint/2010/main" val="18558355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48BC2-4830-44BD-A525-BEC7F37B93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F5C169A-8A31-489F-B6EA-F8E945FF1A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91AC881-B739-468A-BCF9-4F7854C603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7055674-B4D9-46D2-B652-AB7C1E51AD4B}"/>
              </a:ext>
            </a:extLst>
          </p:cNvPr>
          <p:cNvSpPr>
            <a:spLocks noGrp="1"/>
          </p:cNvSpPr>
          <p:nvPr>
            <p:ph type="dt" sz="half" idx="10"/>
          </p:nvPr>
        </p:nvSpPr>
        <p:spPr/>
        <p:txBody>
          <a:bodyPr/>
          <a:lstStyle/>
          <a:p>
            <a:fld id="{A0623D07-B41D-4865-9117-A59235B241FC}" type="datetime1">
              <a:rPr lang="en-US" smtClean="0"/>
              <a:pPr/>
              <a:t>10/24/26</a:t>
            </a:fld>
            <a:endParaRPr lang="en-US"/>
          </a:p>
        </p:txBody>
      </p:sp>
      <p:sp>
        <p:nvSpPr>
          <p:cNvPr id="6" name="Footer Placeholder 5">
            <a:extLst>
              <a:ext uri="{FF2B5EF4-FFF2-40B4-BE49-F238E27FC236}">
                <a16:creationId xmlns:a16="http://schemas.microsoft.com/office/drawing/2014/main" id="{9EFCBDEA-0C72-4768-BDA5-F4CE70A4A0B5}"/>
              </a:ext>
            </a:extLst>
          </p:cNvPr>
          <p:cNvSpPr>
            <a:spLocks noGrp="1"/>
          </p:cNvSpPr>
          <p:nvPr>
            <p:ph type="ftr" sz="quarter" idx="11"/>
          </p:nvPr>
        </p:nvSpPr>
        <p:spPr/>
        <p:txBody>
          <a:bodyPr/>
          <a:lstStyle/>
          <a:p>
            <a:r>
              <a:rPr lang="en-US"/>
              <a:t>DL&amp;CO                                                                G.LAVARAJU, Associate Professor, CSE</a:t>
            </a:r>
          </a:p>
        </p:txBody>
      </p:sp>
      <p:sp>
        <p:nvSpPr>
          <p:cNvPr id="7" name="Slide Number Placeholder 6">
            <a:extLst>
              <a:ext uri="{FF2B5EF4-FFF2-40B4-BE49-F238E27FC236}">
                <a16:creationId xmlns:a16="http://schemas.microsoft.com/office/drawing/2014/main" id="{0B656D20-C3AD-45CA-8AD9-3AB88800D655}"/>
              </a:ext>
            </a:extLst>
          </p:cNvPr>
          <p:cNvSpPr>
            <a:spLocks noGrp="1"/>
          </p:cNvSpPr>
          <p:nvPr>
            <p:ph type="sldNum" sz="quarter" idx="12"/>
          </p:nvPr>
        </p:nvSpPr>
        <p:spPr/>
        <p:txBody>
          <a:bodyPr/>
          <a:lstStyle/>
          <a:p>
            <a:fld id="{C0FA9481-3A84-418C-9FCC-1F8C2D158F80}" type="slidenum">
              <a:rPr lang="en-IN" smtClean="0"/>
              <a:pPr/>
              <a:t>‹#›</a:t>
            </a:fld>
            <a:endParaRPr lang="en-IN"/>
          </a:p>
        </p:txBody>
      </p:sp>
    </p:spTree>
    <p:extLst>
      <p:ext uri="{BB962C8B-B14F-4D97-AF65-F5344CB8AC3E}">
        <p14:creationId xmlns:p14="http://schemas.microsoft.com/office/powerpoint/2010/main" val="376446827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52EC1-5E01-4E88-9D5A-3E0FB7FD50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4D1004B-D7D1-4173-8F8F-2C074034AA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E261285-4E1B-4093-8885-8CE37E01FE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AB03937-6F15-40F3-8894-853B33F13A08}"/>
              </a:ext>
            </a:extLst>
          </p:cNvPr>
          <p:cNvSpPr>
            <a:spLocks noGrp="1"/>
          </p:cNvSpPr>
          <p:nvPr>
            <p:ph type="dt" sz="half" idx="10"/>
          </p:nvPr>
        </p:nvSpPr>
        <p:spPr/>
        <p:txBody>
          <a:bodyPr/>
          <a:lstStyle/>
          <a:p>
            <a:fld id="{A0623D07-B41D-4865-9117-A59235B241FC}" type="datetime1">
              <a:rPr lang="en-US" smtClean="0"/>
              <a:pPr/>
              <a:t>10/24/26</a:t>
            </a:fld>
            <a:endParaRPr lang="en-US"/>
          </a:p>
        </p:txBody>
      </p:sp>
      <p:sp>
        <p:nvSpPr>
          <p:cNvPr id="6" name="Footer Placeholder 5">
            <a:extLst>
              <a:ext uri="{FF2B5EF4-FFF2-40B4-BE49-F238E27FC236}">
                <a16:creationId xmlns:a16="http://schemas.microsoft.com/office/drawing/2014/main" id="{DB4576B5-C2CA-43E9-B563-832CBA553D2B}"/>
              </a:ext>
            </a:extLst>
          </p:cNvPr>
          <p:cNvSpPr>
            <a:spLocks noGrp="1"/>
          </p:cNvSpPr>
          <p:nvPr>
            <p:ph type="ftr" sz="quarter" idx="11"/>
          </p:nvPr>
        </p:nvSpPr>
        <p:spPr/>
        <p:txBody>
          <a:bodyPr/>
          <a:lstStyle/>
          <a:p>
            <a:r>
              <a:rPr lang="en-US"/>
              <a:t>DL&amp;CO                                                                G.LAVARAJU, Associate Professor, CSE</a:t>
            </a:r>
          </a:p>
        </p:txBody>
      </p:sp>
      <p:sp>
        <p:nvSpPr>
          <p:cNvPr id="7" name="Slide Number Placeholder 6">
            <a:extLst>
              <a:ext uri="{FF2B5EF4-FFF2-40B4-BE49-F238E27FC236}">
                <a16:creationId xmlns:a16="http://schemas.microsoft.com/office/drawing/2014/main" id="{0BB72F6A-2C77-4E84-AE10-5FA4B2668AB1}"/>
              </a:ext>
            </a:extLst>
          </p:cNvPr>
          <p:cNvSpPr>
            <a:spLocks noGrp="1"/>
          </p:cNvSpPr>
          <p:nvPr>
            <p:ph type="sldNum" sz="quarter" idx="12"/>
          </p:nvPr>
        </p:nvSpPr>
        <p:spPr/>
        <p:txBody>
          <a:bodyPr/>
          <a:lstStyle/>
          <a:p>
            <a:fld id="{C0FA9481-3A84-418C-9FCC-1F8C2D158F80}" type="slidenum">
              <a:rPr lang="en-IN" smtClean="0"/>
              <a:pPr/>
              <a:t>‹#›</a:t>
            </a:fld>
            <a:endParaRPr lang="en-IN"/>
          </a:p>
        </p:txBody>
      </p:sp>
    </p:spTree>
    <p:extLst>
      <p:ext uri="{BB962C8B-B14F-4D97-AF65-F5344CB8AC3E}">
        <p14:creationId xmlns:p14="http://schemas.microsoft.com/office/powerpoint/2010/main" val="7796628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73F65-2D5F-4B67-810D-665142E6AB9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4BC1360-79D3-4E0F-88AA-37B12E2D6A5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E1AF4E-BC39-4085-8BF7-08CE5E33F61A}"/>
              </a:ext>
            </a:extLst>
          </p:cNvPr>
          <p:cNvSpPr>
            <a:spLocks noGrp="1"/>
          </p:cNvSpPr>
          <p:nvPr>
            <p:ph type="dt" sz="half" idx="10"/>
          </p:nvPr>
        </p:nvSpPr>
        <p:spPr/>
        <p:txBody>
          <a:bodyPr/>
          <a:lstStyle/>
          <a:p>
            <a:fld id="{A0623D07-B41D-4865-9117-A59235B241FC}" type="datetime1">
              <a:rPr lang="en-US" smtClean="0"/>
              <a:pPr/>
              <a:t>10/24/26</a:t>
            </a:fld>
            <a:endParaRPr lang="en-US"/>
          </a:p>
        </p:txBody>
      </p:sp>
      <p:sp>
        <p:nvSpPr>
          <p:cNvPr id="5" name="Footer Placeholder 4">
            <a:extLst>
              <a:ext uri="{FF2B5EF4-FFF2-40B4-BE49-F238E27FC236}">
                <a16:creationId xmlns:a16="http://schemas.microsoft.com/office/drawing/2014/main" id="{AB3E8194-E3DB-4890-93C3-388FA02A0540}"/>
              </a:ext>
            </a:extLst>
          </p:cNvPr>
          <p:cNvSpPr>
            <a:spLocks noGrp="1"/>
          </p:cNvSpPr>
          <p:nvPr>
            <p:ph type="ftr" sz="quarter" idx="11"/>
          </p:nvPr>
        </p:nvSpPr>
        <p:spPr/>
        <p:txBody>
          <a:bodyPr/>
          <a:lstStyle/>
          <a:p>
            <a:r>
              <a:rPr lang="en-US"/>
              <a:t>DL&amp;CO                                                                G.LAVARAJU, Associate Professor, CSE</a:t>
            </a:r>
          </a:p>
        </p:txBody>
      </p:sp>
      <p:sp>
        <p:nvSpPr>
          <p:cNvPr id="6" name="Slide Number Placeholder 5">
            <a:extLst>
              <a:ext uri="{FF2B5EF4-FFF2-40B4-BE49-F238E27FC236}">
                <a16:creationId xmlns:a16="http://schemas.microsoft.com/office/drawing/2014/main" id="{C42C9DA8-A82E-4741-A354-7AD6DDE5363B}"/>
              </a:ext>
            </a:extLst>
          </p:cNvPr>
          <p:cNvSpPr>
            <a:spLocks noGrp="1"/>
          </p:cNvSpPr>
          <p:nvPr>
            <p:ph type="sldNum" sz="quarter" idx="12"/>
          </p:nvPr>
        </p:nvSpPr>
        <p:spPr/>
        <p:txBody>
          <a:bodyPr/>
          <a:lstStyle/>
          <a:p>
            <a:fld id="{C0FA9481-3A84-418C-9FCC-1F8C2D158F80}" type="slidenum">
              <a:rPr lang="en-IN" smtClean="0"/>
              <a:pPr/>
              <a:t>‹#›</a:t>
            </a:fld>
            <a:endParaRPr lang="en-IN"/>
          </a:p>
        </p:txBody>
      </p:sp>
    </p:spTree>
    <p:extLst>
      <p:ext uri="{BB962C8B-B14F-4D97-AF65-F5344CB8AC3E}">
        <p14:creationId xmlns:p14="http://schemas.microsoft.com/office/powerpoint/2010/main" val="191778721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5EDC20-7BD5-4A6D-83BB-4A4DB85BBD6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B5B15E9-8B66-4F27-96B1-B62986B54776}"/>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0C0A077-68CD-49BE-9E3F-27739FB1382B}"/>
              </a:ext>
            </a:extLst>
          </p:cNvPr>
          <p:cNvSpPr>
            <a:spLocks noGrp="1"/>
          </p:cNvSpPr>
          <p:nvPr>
            <p:ph type="dt" sz="half" idx="10"/>
          </p:nvPr>
        </p:nvSpPr>
        <p:spPr/>
        <p:txBody>
          <a:bodyPr/>
          <a:lstStyle/>
          <a:p>
            <a:fld id="{A0623D07-B41D-4865-9117-A59235B241FC}" type="datetime1">
              <a:rPr lang="en-US" smtClean="0"/>
              <a:pPr/>
              <a:t>10/24/26</a:t>
            </a:fld>
            <a:endParaRPr lang="en-US"/>
          </a:p>
        </p:txBody>
      </p:sp>
      <p:sp>
        <p:nvSpPr>
          <p:cNvPr id="5" name="Footer Placeholder 4">
            <a:extLst>
              <a:ext uri="{FF2B5EF4-FFF2-40B4-BE49-F238E27FC236}">
                <a16:creationId xmlns:a16="http://schemas.microsoft.com/office/drawing/2014/main" id="{1F6D0FE5-753A-4FED-B702-7C66013976E1}"/>
              </a:ext>
            </a:extLst>
          </p:cNvPr>
          <p:cNvSpPr>
            <a:spLocks noGrp="1"/>
          </p:cNvSpPr>
          <p:nvPr>
            <p:ph type="ftr" sz="quarter" idx="11"/>
          </p:nvPr>
        </p:nvSpPr>
        <p:spPr/>
        <p:txBody>
          <a:bodyPr/>
          <a:lstStyle/>
          <a:p>
            <a:r>
              <a:rPr lang="en-US"/>
              <a:t>DL&amp;CO                                                                G.LAVARAJU, Associate Professor, CSE</a:t>
            </a:r>
          </a:p>
        </p:txBody>
      </p:sp>
      <p:sp>
        <p:nvSpPr>
          <p:cNvPr id="6" name="Slide Number Placeholder 5">
            <a:extLst>
              <a:ext uri="{FF2B5EF4-FFF2-40B4-BE49-F238E27FC236}">
                <a16:creationId xmlns:a16="http://schemas.microsoft.com/office/drawing/2014/main" id="{69AE4924-8D7D-49BF-94B2-4F31718D2AD8}"/>
              </a:ext>
            </a:extLst>
          </p:cNvPr>
          <p:cNvSpPr>
            <a:spLocks noGrp="1"/>
          </p:cNvSpPr>
          <p:nvPr>
            <p:ph type="sldNum" sz="quarter" idx="12"/>
          </p:nvPr>
        </p:nvSpPr>
        <p:spPr/>
        <p:txBody>
          <a:bodyPr/>
          <a:lstStyle/>
          <a:p>
            <a:fld id="{C0FA9481-3A84-418C-9FCC-1F8C2D158F80}" type="slidenum">
              <a:rPr lang="en-IN" smtClean="0"/>
              <a:pPr/>
              <a:t>‹#›</a:t>
            </a:fld>
            <a:endParaRPr lang="en-IN"/>
          </a:p>
        </p:txBody>
      </p:sp>
    </p:spTree>
    <p:extLst>
      <p:ext uri="{BB962C8B-B14F-4D97-AF65-F5344CB8AC3E}">
        <p14:creationId xmlns:p14="http://schemas.microsoft.com/office/powerpoint/2010/main" val="180659604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Content Placeholder 2">
            <a:extLst>
              <a:ext uri="{05269A97-DC81-49F9-B896-84CAB659C62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56F5785-025F-4915-96E3-0AFF7163BC15}"/>
              </a:ext>
            </a:extLst>
          </p:cNvPr>
          <p:cNvSpPr>
            <a:spLocks noGrp="1"/>
          </p:cNvSpPr>
          <p:nvPr>
            <p:ph/>
          </p:nvPr>
        </p:nvSpPr>
        <p:spPr>
          <a:xfrm>
            <a:off x="869085" y="1561876"/>
            <a:ext cx="10515600" cy="4531419"/>
          </a:xfrm>
        </p:spPr>
        <p:txBody>
          <a:bodyPr rtlCol="0"/>
          <a:lstStyle>
            <a:lvl1pPr marL="457200" lvl="0" indent="0">
              <a:buNone/>
            </a:lvl1pPr>
            <a:lvl2pPr marL="914400" lvl="1" indent="0">
              <a:buNone/>
            </a:lvl2pPr>
            <a:lvl3pPr marL="1371600" lvl="2" indent="0">
              <a:buNone/>
            </a:lvl3pPr>
            <a:lvl4pPr marL="1828800" lvl="3" indent="0">
              <a:buNone/>
            </a:lvl4pPr>
          </a:lstStyle>
          <a:p>
            <a:pPr lvl="0"/>
            <a:r>
              <a:rPr lang="en-US"/>
              <a:t>Click to edit Master text styles</a:t>
            </a:r>
          </a:p>
        </p:txBody>
      </p:sp>
      <p:sp>
        <p:nvSpPr>
          <p:cNvPr id="3" name="Date Placeholder 2">
            <a:extLst>
              <a:ext uri="{C7EE3D1E-6A2F-4B40-9445-6784FC740AC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4C561F3-3431-4CB3-94B3-3A3D9CDA63D8}"/>
              </a:ext>
            </a:extLst>
          </p:cNvPr>
          <p:cNvSpPr>
            <a:spLocks noGrp="1"/>
          </p:cNvSpPr>
          <p:nvPr>
            <p:ph type="dt" sz="half" idx="1"/>
          </p:nvPr>
        </p:nvSpPr>
        <p:spPr>
          <a:xfrm>
            <a:off x="695400" y="6278769"/>
            <a:ext cx="1656183" cy="365125"/>
          </a:xfrm>
          <a:ln>
            <a:noFill/>
          </a:ln>
        </p:spPr>
        <p:txBody>
          <a:bodyPr rtlCol="0"/>
          <a:lstStyle>
            <a:lvl1pPr lvl="0">
              <a:defRPr lang="en-US" b="1" dirty="0">
                <a:solidFill>
                  <a:schemeClr val="bg1">
                    <a:lumMod val="50000"/>
                  </a:schemeClr>
                </a:solidFill>
                <a:latin typeface="+mn-lt"/>
              </a:defRPr>
            </a:lvl1pPr>
          </a:lstStyle>
          <a:p>
            <a:fld id="{ADCE28B6-DBFE-4620-B95B-46D05A4EFA88}" type="datetime1">
              <a:rPr lang="en-US"/>
              <a:pPr/>
              <a:t>10/24/26</a:t>
            </a:fld>
            <a:endParaRPr lang="en-US"/>
          </a:p>
        </p:txBody>
      </p:sp>
      <p:sp>
        <p:nvSpPr>
          <p:cNvPr id="4" name="Footer Placeholder 3">
            <a:extLst>
              <a:ext uri="{E2B100E3-D1A2-4814-971B-1F28BC986BE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6403740-14DB-4D0C-AC81-1640F2592B4A}"/>
              </a:ext>
            </a:extLst>
          </p:cNvPr>
          <p:cNvSpPr>
            <a:spLocks noGrp="1"/>
          </p:cNvSpPr>
          <p:nvPr>
            <p:ph type="ftr" sz="quarter" idx="2"/>
          </p:nvPr>
        </p:nvSpPr>
        <p:spPr>
          <a:xfrm>
            <a:off x="2567608" y="6278771"/>
            <a:ext cx="6912768" cy="365125"/>
          </a:xfrm>
          <a:ln>
            <a:noFill/>
          </a:ln>
        </p:spPr>
        <p:txBody>
          <a:bodyPr rtlCol="0"/>
          <a:lstStyle>
            <a:lvl1pPr lvl="0">
              <a:defRPr lang="en-US" b="1" dirty="0">
                <a:solidFill>
                  <a:schemeClr val="bg1">
                    <a:lumMod val="50000"/>
                  </a:schemeClr>
                </a:solidFill>
                <a:latin typeface="+mn-lt"/>
              </a:defRPr>
            </a:lvl1pPr>
          </a:lstStyle>
          <a:p>
            <a:r>
              <a:rPr lang="en-US"/>
              <a:t>DL&amp;CO                                                                G.LAVARAJU, Associate Professor, CSE</a:t>
            </a:r>
          </a:p>
        </p:txBody>
      </p:sp>
      <p:pic>
        <p:nvPicPr>
          <p:cNvPr id="5" name="Picture 2">
            <a:extLst>
              <a:ext uri="{DAD87817-DB1B-4DE8-BD41-41BB3E99A74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3518EA9-28E9-4397-BCB4-F5D7ABFF9E3A}"/>
              </a:ext>
            </a:extLst>
          </p:cNvPr>
          <p:cNvPicPr>
            <a:picLocks noChangeAspect="1" noChangeArrowheads="1"/>
          </p:cNvPicPr>
          <p:nvPr userDrawn="1"/>
        </p:nvPicPr>
        <p:blipFill>
          <a:blip r:embed="rId2"/>
          <a:stretch>
            <a:fillRect/>
          </a:stretch>
        </p:blipFill>
        <p:spPr>
          <a:xfrm>
            <a:off x="-240709" y="-243408"/>
            <a:ext cx="3249644" cy="1800000"/>
          </a:xfrm>
          <a:prstGeom prst="rect">
            <a:avLst/>
          </a:prstGeom>
          <a:noFill/>
        </p:spPr>
      </p:pic>
      <p:sp>
        <p:nvSpPr>
          <p:cNvPr id="6" name="Slide Number Placeholder 3">
            <a:extLst>
              <a:ext uri="{8B62DEED-5952-4478-9464-706CCDCB22D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265A311-D434-4806-B3C0-ED40E2B04ADB}"/>
              </a:ext>
            </a:extLst>
          </p:cNvPr>
          <p:cNvSpPr>
            <a:spLocks noGrp="1"/>
          </p:cNvSpPr>
          <p:nvPr>
            <p:ph type="sldNum" sz="quarter" idx="3"/>
          </p:nvPr>
        </p:nvSpPr>
        <p:spPr>
          <a:xfrm>
            <a:off x="10272464" y="6356350"/>
            <a:ext cx="1081336" cy="365125"/>
          </a:xfrm>
        </p:spPr>
        <p:txBody>
          <a:bodyPr rtlCol="0"/>
          <a:lstStyle/>
          <a:p>
            <a:fld id="{9359D16F-76A5-41BA-ADDD-CBF352B33DDD}" type="slidenum">
              <a:rPr/>
              <a:pPr/>
              <a:t>‹#›</a:t>
            </a:fld>
            <a:endParaRPr lang="en-US"/>
          </a:p>
        </p:txBody>
      </p:sp>
    </p:spTree>
    <p:extLst>
      <p:ext uri="{BB962C8B-B14F-4D97-AF65-F5344CB8AC3E}">
        <p14:creationId xmlns:p14="http://schemas.microsoft.com/office/powerpoint/2010/main" val="2608599245"/>
      </p:ext>
      <p:ext uri="{E791D5F0-FCE4-45B8-828D-F7D7E855498A}">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8511710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CB2237-2336-4928-91BB-D11E5D1BAB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5D78D87-69DA-49AC-B95C-5424304AC4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49C698-364C-451A-88B1-07B9F0536C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623D07-B41D-4865-9117-A59235B241FC}" type="datetime1">
              <a:rPr lang="en-US" smtClean="0"/>
              <a:pPr/>
              <a:t>10/24/26</a:t>
            </a:fld>
            <a:endParaRPr lang="en-US"/>
          </a:p>
        </p:txBody>
      </p:sp>
      <p:sp>
        <p:nvSpPr>
          <p:cNvPr id="5" name="Footer Placeholder 4">
            <a:extLst>
              <a:ext uri="{FF2B5EF4-FFF2-40B4-BE49-F238E27FC236}">
                <a16:creationId xmlns:a16="http://schemas.microsoft.com/office/drawing/2014/main" id="{60CDB517-1ABE-4C4A-B495-22454DBBF3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DL&amp;CO                                                                G.LAVARAJU, Associate Professor, CSE</a:t>
            </a:r>
          </a:p>
        </p:txBody>
      </p:sp>
      <p:sp>
        <p:nvSpPr>
          <p:cNvPr id="6" name="Slide Number Placeholder 5">
            <a:extLst>
              <a:ext uri="{FF2B5EF4-FFF2-40B4-BE49-F238E27FC236}">
                <a16:creationId xmlns:a16="http://schemas.microsoft.com/office/drawing/2014/main" id="{8E050DD2-1FEA-49E7-880D-CD66534EB1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FA9481-3A84-418C-9FCC-1F8C2D158F80}" type="slidenum">
              <a:rPr lang="en-IN" smtClean="0"/>
              <a:pPr/>
              <a:t>‹#›</a:t>
            </a:fld>
            <a:endParaRPr lang="en-IN"/>
          </a:p>
        </p:txBody>
      </p:sp>
    </p:spTree>
    <p:extLst>
      <p:ext uri="{BB962C8B-B14F-4D97-AF65-F5344CB8AC3E}">
        <p14:creationId xmlns:p14="http://schemas.microsoft.com/office/powerpoint/2010/main" val="2057510496"/>
      </p:ext>
    </p:extLst>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 id="2147483778"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9.jpe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2">
            <a:extLst>
              <a:ext uri="{FF2B5EF4-FFF2-40B4-BE49-F238E27FC236}">
                <a16:creationId xmlns:a16="http://schemas.microsoft.com/office/drawing/2014/main" id="{15224510-DA37-4A8C-8B41-5CE7708989E7}"/>
              </a:ext>
            </a:extLst>
          </p:cNvPr>
          <p:cNvPicPr/>
          <p:nvPr/>
        </p:nvPicPr>
        <p:blipFill>
          <a:blip r:embed="rId2" cstate="print"/>
          <a:stretch>
            <a:fillRect/>
          </a:stretch>
        </p:blipFill>
        <p:spPr>
          <a:xfrm>
            <a:off x="3790545" y="296771"/>
            <a:ext cx="4610910" cy="628649"/>
          </a:xfrm>
          <a:prstGeom prst="rect">
            <a:avLst/>
          </a:prstGeom>
        </p:spPr>
      </p:pic>
      <p:sp>
        <p:nvSpPr>
          <p:cNvPr id="4" name="TextBox 3">
            <a:extLst>
              <a:ext uri="{FF2B5EF4-FFF2-40B4-BE49-F238E27FC236}">
                <a16:creationId xmlns:a16="http://schemas.microsoft.com/office/drawing/2014/main" id="{B68340D9-F782-48D5-9E6C-F0B23DB81BC0}"/>
              </a:ext>
            </a:extLst>
          </p:cNvPr>
          <p:cNvSpPr txBox="1"/>
          <p:nvPr/>
        </p:nvSpPr>
        <p:spPr>
          <a:xfrm>
            <a:off x="3298903" y="1090369"/>
            <a:ext cx="6284156" cy="1015663"/>
          </a:xfrm>
          <a:prstGeom prst="rect">
            <a:avLst/>
          </a:prstGeom>
          <a:noFill/>
        </p:spPr>
        <p:txBody>
          <a:bodyPr wrap="none" rtlCol="0">
            <a:spAutoFit/>
          </a:bodyPr>
          <a:lstStyle/>
          <a:p>
            <a:r>
              <a:rPr lang="en-IN" sz="2000" spc="-10" dirty="0">
                <a:solidFill>
                  <a:srgbClr val="002060"/>
                </a:solidFill>
                <a:latin typeface="Times New Roman" panose="02020603050405020304" pitchFamily="18" charset="0"/>
                <a:cs typeface="Times New Roman" panose="02020603050405020304" pitchFamily="18" charset="0"/>
              </a:rPr>
              <a:t>OBJECT ORIENTED PROGRAMMING THROUGH C++</a:t>
            </a:r>
          </a:p>
          <a:p>
            <a:r>
              <a:rPr lang="en-IN" sz="2000" spc="-10" dirty="0">
                <a:solidFill>
                  <a:srgbClr val="002060"/>
                </a:solidFill>
                <a:latin typeface="Times New Roman" panose="02020603050405020304" pitchFamily="18" charset="0"/>
                <a:cs typeface="Times New Roman" panose="02020603050405020304" pitchFamily="18" charset="0"/>
              </a:rPr>
              <a:t> </a:t>
            </a:r>
            <a:br>
              <a:rPr lang="en-IN" sz="2000" spc="-10" dirty="0">
                <a:solidFill>
                  <a:srgbClr val="002060"/>
                </a:solidFill>
                <a:latin typeface="Times New Roman" panose="02020603050405020304" pitchFamily="18" charset="0"/>
                <a:cs typeface="Times New Roman" panose="02020603050405020304" pitchFamily="18" charset="0"/>
              </a:rPr>
            </a:br>
            <a:r>
              <a:rPr lang="en-IN" sz="2000" spc="-10" dirty="0">
                <a:solidFill>
                  <a:srgbClr val="002060"/>
                </a:solidFill>
                <a:latin typeface="Times New Roman" panose="02020603050405020304" pitchFamily="18" charset="0"/>
                <a:cs typeface="Times New Roman" panose="02020603050405020304" pitchFamily="18" charset="0"/>
              </a:rPr>
              <a:t>                         </a:t>
            </a:r>
            <a:r>
              <a:rPr lang="en-IN" sz="2000" spc="-10" dirty="0">
                <a:solidFill>
                  <a:srgbClr val="FF0000"/>
                </a:solidFill>
                <a:latin typeface="Times New Roman" panose="02020603050405020304" pitchFamily="18" charset="0"/>
                <a:cs typeface="Times New Roman" panose="02020603050405020304" pitchFamily="18" charset="0"/>
              </a:rPr>
              <a:t>PROJECT REVIEW 1&amp;2</a:t>
            </a:r>
            <a:endParaRPr lang="en-IN" sz="2000" dirty="0">
              <a:solidFill>
                <a:srgbClr val="FF0000"/>
              </a:solidFill>
            </a:endParaRPr>
          </a:p>
        </p:txBody>
      </p:sp>
      <p:sp>
        <p:nvSpPr>
          <p:cNvPr id="5" name="TextBox 4">
            <a:extLst>
              <a:ext uri="{FF2B5EF4-FFF2-40B4-BE49-F238E27FC236}">
                <a16:creationId xmlns:a16="http://schemas.microsoft.com/office/drawing/2014/main" id="{FD87AA0A-128E-4C93-9C84-B2AAAF4E21EA}"/>
              </a:ext>
            </a:extLst>
          </p:cNvPr>
          <p:cNvSpPr txBox="1"/>
          <p:nvPr/>
        </p:nvSpPr>
        <p:spPr>
          <a:xfrm>
            <a:off x="3497275" y="2282277"/>
            <a:ext cx="5197448" cy="400110"/>
          </a:xfrm>
          <a:prstGeom prst="rect">
            <a:avLst/>
          </a:prstGeom>
          <a:noFill/>
        </p:spPr>
        <p:txBody>
          <a:bodyPr wrap="none" rtlCol="0">
            <a:spAutoFit/>
          </a:bodyPr>
          <a:lstStyle/>
          <a:p>
            <a:r>
              <a:rPr lang="en-US" sz="2000" dirty="0">
                <a:solidFill>
                  <a:schemeClr val="tx2">
                    <a:lumMod val="75000"/>
                  </a:schemeClr>
                </a:solidFill>
                <a:latin typeface="Times New Roman" panose="02020603050405020304" pitchFamily="18" charset="0"/>
                <a:cs typeface="Times New Roman" panose="02020603050405020304" pitchFamily="18" charset="0"/>
              </a:rPr>
              <a:t>S</a:t>
            </a:r>
            <a:r>
              <a:rPr lang="en-IN" sz="2000" dirty="0">
                <a:solidFill>
                  <a:schemeClr val="tx2">
                    <a:lumMod val="75000"/>
                  </a:schemeClr>
                </a:solidFill>
                <a:latin typeface="Times New Roman" panose="02020603050405020304" pitchFamily="18" charset="0"/>
                <a:cs typeface="Times New Roman" panose="02020603050405020304" pitchFamily="18" charset="0"/>
              </a:rPr>
              <a:t>TUDENT RECORD MANAGER USING C++</a:t>
            </a:r>
            <a:endParaRPr lang="en-IN" sz="2000" dirty="0"/>
          </a:p>
        </p:txBody>
      </p:sp>
      <p:sp>
        <p:nvSpPr>
          <p:cNvPr id="6" name="TextBox 5">
            <a:extLst>
              <a:ext uri="{FF2B5EF4-FFF2-40B4-BE49-F238E27FC236}">
                <a16:creationId xmlns:a16="http://schemas.microsoft.com/office/drawing/2014/main" id="{7C42E6FC-10F4-4F82-BA98-16A8D5722C2C}"/>
              </a:ext>
            </a:extLst>
          </p:cNvPr>
          <p:cNvSpPr txBox="1"/>
          <p:nvPr/>
        </p:nvSpPr>
        <p:spPr>
          <a:xfrm>
            <a:off x="3102262" y="2860095"/>
            <a:ext cx="5987473" cy="1631216"/>
          </a:xfrm>
          <a:prstGeom prst="rect">
            <a:avLst/>
          </a:prstGeom>
          <a:noFill/>
        </p:spPr>
        <p:txBody>
          <a:bodyPr wrap="none" rtlCol="0">
            <a:spAutoFit/>
          </a:bodyPr>
          <a:lstStyle/>
          <a:p>
            <a:r>
              <a:rPr lang="en-IN" sz="2000" dirty="0">
                <a:solidFill>
                  <a:srgbClr val="FF0000"/>
                </a:solidFill>
                <a:latin typeface="Times New Roman" panose="02020603050405020304" pitchFamily="18" charset="0"/>
                <a:cs typeface="Times New Roman" panose="02020603050405020304" pitchFamily="18" charset="0"/>
              </a:rPr>
              <a:t>                                 PRESENTED BY</a:t>
            </a:r>
            <a:br>
              <a:rPr lang="en-IN" sz="2000" spc="-25" dirty="0">
                <a:solidFill>
                  <a:srgbClr val="FF0000"/>
                </a:solidFill>
                <a:latin typeface="Times New Roman" panose="02020603050405020304" pitchFamily="18" charset="0"/>
                <a:cs typeface="Times New Roman" panose="02020603050405020304" pitchFamily="18" charset="0"/>
              </a:rPr>
            </a:br>
            <a:r>
              <a:rPr lang="en-IN" sz="2000" spc="-10" dirty="0">
                <a:solidFill>
                  <a:srgbClr val="17375E"/>
                </a:solidFill>
                <a:latin typeface="Times New Roman" panose="02020603050405020304" pitchFamily="18" charset="0"/>
                <a:cs typeface="Times New Roman" panose="02020603050405020304" pitchFamily="18" charset="0"/>
              </a:rPr>
              <a:t>       K Hemanth Sai Venkata Vidya Sagar (25B11AI494)</a:t>
            </a:r>
            <a:br>
              <a:rPr lang="en-IN" sz="2000" spc="-10" dirty="0">
                <a:solidFill>
                  <a:srgbClr val="17375E"/>
                </a:solidFill>
                <a:latin typeface="Times New Roman" panose="02020603050405020304" pitchFamily="18" charset="0"/>
                <a:cs typeface="Times New Roman" panose="02020603050405020304" pitchFamily="18" charset="0"/>
              </a:rPr>
            </a:br>
            <a:r>
              <a:rPr lang="en-IN" sz="2000" spc="-10" dirty="0">
                <a:solidFill>
                  <a:srgbClr val="17375E"/>
                </a:solidFill>
                <a:latin typeface="Times New Roman" panose="02020603050405020304" pitchFamily="18" charset="0"/>
                <a:cs typeface="Times New Roman" panose="02020603050405020304" pitchFamily="18" charset="0"/>
              </a:rPr>
              <a:t>       B Ganesh                                             (25B11AI084) </a:t>
            </a:r>
            <a:br>
              <a:rPr lang="en-IN" sz="2000" spc="-10" dirty="0">
                <a:solidFill>
                  <a:srgbClr val="17375E"/>
                </a:solidFill>
                <a:latin typeface="Times New Roman" panose="02020603050405020304" pitchFamily="18" charset="0"/>
                <a:cs typeface="Times New Roman" panose="02020603050405020304" pitchFamily="18" charset="0"/>
              </a:rPr>
            </a:br>
            <a:r>
              <a:rPr lang="en-IN" sz="2000" spc="-10" dirty="0">
                <a:solidFill>
                  <a:srgbClr val="17375E"/>
                </a:solidFill>
                <a:latin typeface="Times New Roman" panose="02020603050405020304" pitchFamily="18" charset="0"/>
                <a:cs typeface="Times New Roman" panose="02020603050405020304" pitchFamily="18" charset="0"/>
              </a:rPr>
              <a:t>       G Sai                                                    (25B11AI320)</a:t>
            </a:r>
            <a:br>
              <a:rPr lang="en-IN" sz="2000" spc="-10" dirty="0">
                <a:solidFill>
                  <a:srgbClr val="17375E"/>
                </a:solidFill>
                <a:latin typeface="Times New Roman" panose="02020603050405020304" pitchFamily="18" charset="0"/>
                <a:cs typeface="Times New Roman" panose="02020603050405020304" pitchFamily="18" charset="0"/>
              </a:rPr>
            </a:br>
            <a:r>
              <a:rPr lang="en-IN" sz="2000" spc="-10" dirty="0">
                <a:solidFill>
                  <a:srgbClr val="17375E"/>
                </a:solidFill>
                <a:latin typeface="Times New Roman" panose="02020603050405020304" pitchFamily="18" charset="0"/>
                <a:cs typeface="Times New Roman" panose="02020603050405020304" pitchFamily="18" charset="0"/>
              </a:rPr>
              <a:t>       A </a:t>
            </a:r>
            <a:r>
              <a:rPr lang="en-IN" sz="2000" spc="-10" dirty="0" err="1">
                <a:solidFill>
                  <a:srgbClr val="17375E"/>
                </a:solidFill>
                <a:latin typeface="Times New Roman" panose="02020603050405020304" pitchFamily="18" charset="0"/>
                <a:cs typeface="Times New Roman" panose="02020603050405020304" pitchFamily="18" charset="0"/>
              </a:rPr>
              <a:t>Keerthu</a:t>
            </a:r>
            <a:r>
              <a:rPr lang="en-IN" sz="2000" spc="-10" dirty="0">
                <a:solidFill>
                  <a:srgbClr val="17375E"/>
                </a:solidFill>
                <a:latin typeface="Times New Roman" panose="02020603050405020304" pitchFamily="18" charset="0"/>
                <a:cs typeface="Times New Roman" panose="02020603050405020304" pitchFamily="18" charset="0"/>
              </a:rPr>
              <a:t> Praveen                              (26B21AI132)</a:t>
            </a:r>
            <a:endParaRPr lang="en-IN" sz="2000" dirty="0"/>
          </a:p>
        </p:txBody>
      </p:sp>
      <p:sp>
        <p:nvSpPr>
          <p:cNvPr id="7" name="TextBox 6">
            <a:extLst>
              <a:ext uri="{FF2B5EF4-FFF2-40B4-BE49-F238E27FC236}">
                <a16:creationId xmlns:a16="http://schemas.microsoft.com/office/drawing/2014/main" id="{861CF9BF-EC14-480E-B5C2-5C40BCBA18D6}"/>
              </a:ext>
            </a:extLst>
          </p:cNvPr>
          <p:cNvSpPr txBox="1"/>
          <p:nvPr/>
        </p:nvSpPr>
        <p:spPr>
          <a:xfrm>
            <a:off x="5331731" y="4429755"/>
            <a:ext cx="1753300" cy="646331"/>
          </a:xfrm>
          <a:prstGeom prst="rect">
            <a:avLst/>
          </a:prstGeom>
          <a:noFill/>
        </p:spPr>
        <p:txBody>
          <a:bodyPr wrap="none" rtlCol="0">
            <a:spAutoFit/>
          </a:bodyPr>
          <a:lstStyle/>
          <a:p>
            <a:r>
              <a:rPr lang="en-IN" spc="-10" dirty="0">
                <a:solidFill>
                  <a:srgbClr val="FF0000"/>
                </a:solidFill>
                <a:latin typeface="Times New Roman" panose="02020603050405020304" pitchFamily="18" charset="0"/>
                <a:cs typeface="Times New Roman" panose="02020603050405020304" pitchFamily="18" charset="0"/>
              </a:rPr>
              <a:t>GUIDED BY</a:t>
            </a:r>
          </a:p>
          <a:p>
            <a:r>
              <a:rPr lang="en-IN" dirty="0">
                <a:solidFill>
                  <a:srgbClr val="002060"/>
                </a:solidFill>
              </a:rPr>
              <a:t>T. Vijaya Lakshmi</a:t>
            </a:r>
          </a:p>
        </p:txBody>
      </p:sp>
      <p:sp>
        <p:nvSpPr>
          <p:cNvPr id="9" name="TextBox 8">
            <a:extLst>
              <a:ext uri="{FF2B5EF4-FFF2-40B4-BE49-F238E27FC236}">
                <a16:creationId xmlns:a16="http://schemas.microsoft.com/office/drawing/2014/main" id="{FEC168AE-3579-42FA-AC81-335B6AFF8A68}"/>
              </a:ext>
            </a:extLst>
          </p:cNvPr>
          <p:cNvSpPr txBox="1"/>
          <p:nvPr/>
        </p:nvSpPr>
        <p:spPr>
          <a:xfrm>
            <a:off x="2724369" y="5211068"/>
            <a:ext cx="6743257" cy="1113125"/>
          </a:xfrm>
          <a:prstGeom prst="rect">
            <a:avLst/>
          </a:prstGeom>
          <a:noFill/>
        </p:spPr>
        <p:txBody>
          <a:bodyPr wrap="none" rtlCol="0">
            <a:spAutoFit/>
          </a:bodyPr>
          <a:lstStyle/>
          <a:p>
            <a:pPr marL="1270" algn="ctr">
              <a:lnSpc>
                <a:spcPct val="100000"/>
              </a:lnSpc>
              <a:spcBef>
                <a:spcPts val="994"/>
              </a:spcBef>
            </a:pPr>
            <a:r>
              <a:rPr lang="en-US" sz="2000" dirty="0">
                <a:solidFill>
                  <a:srgbClr val="943735"/>
                </a:solidFill>
                <a:latin typeface="Times New Roman" panose="02020603050405020304" pitchFamily="18" charset="0"/>
                <a:cs typeface="Times New Roman" panose="02020603050405020304" pitchFamily="18" charset="0"/>
              </a:rPr>
              <a:t>DEPARTMENT OF</a:t>
            </a:r>
          </a:p>
          <a:p>
            <a:pPr marL="1270" algn="ctr">
              <a:lnSpc>
                <a:spcPct val="100000"/>
              </a:lnSpc>
              <a:spcBef>
                <a:spcPts val="994"/>
              </a:spcBef>
            </a:pPr>
            <a:r>
              <a:rPr lang="en-US" sz="2000" dirty="0">
                <a:solidFill>
                  <a:srgbClr val="943735"/>
                </a:solidFill>
                <a:latin typeface="Times New Roman" panose="02020603050405020304" pitchFamily="18" charset="0"/>
                <a:cs typeface="Times New Roman" panose="02020603050405020304" pitchFamily="18" charset="0"/>
              </a:rPr>
              <a:t>ARTIFICIAL INTELLIGENCE AND MACHINE LEARNING</a:t>
            </a:r>
            <a:endParaRPr lang="en-US" sz="2000" spc="-10" dirty="0">
              <a:solidFill>
                <a:srgbClr val="943735"/>
              </a:solidFill>
              <a:latin typeface="Times New Roman" panose="02020603050405020304" pitchFamily="18" charset="0"/>
              <a:cs typeface="Times New Roman" panose="02020603050405020304" pitchFamily="18" charset="0"/>
            </a:endParaRPr>
          </a:p>
          <a:p>
            <a:endParaRPr lang="en-IN" dirty="0"/>
          </a:p>
        </p:txBody>
      </p:sp>
      <p:sp>
        <p:nvSpPr>
          <p:cNvPr id="2" name="TextBox 1">
            <a:extLst>
              <a:ext uri="{FF2B5EF4-FFF2-40B4-BE49-F238E27FC236}">
                <a16:creationId xmlns:a16="http://schemas.microsoft.com/office/drawing/2014/main" id="{D10E3ABC-5A36-9FC1-4604-3C4F48906A29}"/>
              </a:ext>
            </a:extLst>
          </p:cNvPr>
          <p:cNvSpPr txBox="1"/>
          <p:nvPr/>
        </p:nvSpPr>
        <p:spPr>
          <a:xfrm>
            <a:off x="5424352" y="4949458"/>
            <a:ext cx="1568058" cy="523220"/>
          </a:xfrm>
          <a:prstGeom prst="rect">
            <a:avLst/>
          </a:prstGeom>
          <a:noFill/>
        </p:spPr>
        <p:txBody>
          <a:bodyPr wrap="none" rtlCol="0">
            <a:spAutoFit/>
          </a:bodyPr>
          <a:lstStyle/>
          <a:p>
            <a:r>
              <a:rPr lang="en-US" sz="1400" dirty="0">
                <a:solidFill>
                  <a:srgbClr val="943735"/>
                </a:solidFill>
                <a:latin typeface="Times New Roman" panose="02020603050405020304" pitchFamily="18" charset="0"/>
                <a:cs typeface="Times New Roman" panose="02020603050405020304" pitchFamily="18" charset="0"/>
              </a:rPr>
              <a:t>Assistant Professor</a:t>
            </a:r>
            <a:br>
              <a:rPr lang="en-US" sz="1400" dirty="0">
                <a:solidFill>
                  <a:srgbClr val="943735"/>
                </a:solidFill>
                <a:latin typeface="Times New Roman" panose="02020603050405020304" pitchFamily="18" charset="0"/>
                <a:cs typeface="Times New Roman" panose="02020603050405020304" pitchFamily="18" charset="0"/>
              </a:rPr>
            </a:br>
            <a:endParaRPr lang="en-US" sz="1400" dirty="0">
              <a:solidFill>
                <a:srgbClr val="943735"/>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90228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B8B6A0-92DB-0403-8AFB-A65C5747FE50}"/>
              </a:ext>
            </a:extLst>
          </p:cNvPr>
          <p:cNvSpPr>
            <a:spLocks noGrp="1"/>
          </p:cNvSpPr>
          <p:nvPr>
            <p:ph/>
          </p:nvPr>
        </p:nvSpPr>
        <p:spPr>
          <a:xfrm>
            <a:off x="988283" y="921529"/>
            <a:ext cx="10515600" cy="4531419"/>
          </a:xfrm>
        </p:spPr>
        <p:txBody>
          <a:bodyPr vert="horz" lIns="91440" tIns="45720" rIns="91440" bIns="45720" rtlCol="0" anchor="t">
            <a:noAutofit/>
          </a:bodyPr>
          <a:lstStyle/>
          <a:p>
            <a:pPr algn="ctr"/>
            <a:endParaRPr lang="en-US" sz="1800" dirty="0"/>
          </a:p>
          <a:p>
            <a:pPr marL="914400" indent="-457200">
              <a:buFont typeface="Arial"/>
              <a:buChar char="•"/>
            </a:pPr>
            <a:r>
              <a:rPr lang="en-US" sz="1800" dirty="0">
                <a:latin typeface="Times New Roman" panose="02020603050405020304" pitchFamily="18" charset="0"/>
                <a:ea typeface="Calibri"/>
                <a:cs typeface="Times New Roman" panose="02020603050405020304" pitchFamily="18" charset="0"/>
              </a:rPr>
              <a:t>Abstract</a:t>
            </a:r>
          </a:p>
          <a:p>
            <a:pPr marL="914400" indent="-457200">
              <a:buFont typeface="Arial"/>
              <a:buChar char="•"/>
            </a:pPr>
            <a:r>
              <a:rPr lang="en-US" sz="1800" dirty="0">
                <a:latin typeface="Times New Roman" panose="02020603050405020304" pitchFamily="18" charset="0"/>
                <a:ea typeface="Calibri"/>
                <a:cs typeface="Times New Roman" panose="02020603050405020304" pitchFamily="18" charset="0"/>
              </a:rPr>
              <a:t>Introduction</a:t>
            </a:r>
          </a:p>
          <a:p>
            <a:pPr marL="914400" indent="-457200">
              <a:buFont typeface="Arial"/>
              <a:buChar char="•"/>
            </a:pPr>
            <a:r>
              <a:rPr lang="en-US" sz="1800" dirty="0">
                <a:latin typeface="Times New Roman" panose="02020603050405020304" pitchFamily="18" charset="0"/>
                <a:ea typeface="Calibri"/>
                <a:cs typeface="Times New Roman" panose="02020603050405020304" pitchFamily="18" charset="0"/>
              </a:rPr>
              <a:t>Problem Statement</a:t>
            </a:r>
          </a:p>
          <a:p>
            <a:pPr marL="914400" indent="-457200">
              <a:buFont typeface="Arial"/>
              <a:buChar char="•"/>
            </a:pPr>
            <a:r>
              <a:rPr lang="en-US" sz="1800" dirty="0">
                <a:latin typeface="Times New Roman" panose="02020603050405020304" pitchFamily="18" charset="0"/>
                <a:ea typeface="Calibri"/>
                <a:cs typeface="Times New Roman" panose="02020603050405020304" pitchFamily="18" charset="0"/>
              </a:rPr>
              <a:t>Objectives</a:t>
            </a:r>
          </a:p>
          <a:p>
            <a:pPr marL="914400" indent="-457200">
              <a:buFont typeface="Arial"/>
              <a:buChar char="•"/>
            </a:pPr>
            <a:r>
              <a:rPr lang="en-US" sz="1800" dirty="0">
                <a:latin typeface="Times New Roman" panose="02020603050405020304" pitchFamily="18" charset="0"/>
                <a:ea typeface="Calibri"/>
                <a:cs typeface="Times New Roman" panose="02020603050405020304" pitchFamily="18" charset="0"/>
              </a:rPr>
              <a:t>Modules and Functions</a:t>
            </a:r>
          </a:p>
          <a:p>
            <a:pPr marL="914400" indent="-457200">
              <a:buFont typeface="Arial"/>
              <a:buChar char="•"/>
            </a:pPr>
            <a:r>
              <a:rPr lang="en-US" sz="1800" dirty="0">
                <a:latin typeface="Times New Roman" panose="02020603050405020304" pitchFamily="18" charset="0"/>
                <a:ea typeface="Calibri"/>
                <a:cs typeface="Times New Roman" panose="02020603050405020304" pitchFamily="18" charset="0"/>
              </a:rPr>
              <a:t>Implementation</a:t>
            </a:r>
          </a:p>
          <a:p>
            <a:pPr marL="914400" indent="-457200">
              <a:buFont typeface="Arial"/>
              <a:buChar char="•"/>
            </a:pPr>
            <a:r>
              <a:rPr lang="en-US" sz="1800" dirty="0">
                <a:latin typeface="Times New Roman" panose="02020603050405020304" pitchFamily="18" charset="0"/>
                <a:ea typeface="Calibri"/>
                <a:cs typeface="Times New Roman" panose="02020603050405020304" pitchFamily="18" charset="0"/>
              </a:rPr>
              <a:t>C++ Concepts Used</a:t>
            </a:r>
          </a:p>
          <a:p>
            <a:pPr marL="914400" indent="-457200">
              <a:buFont typeface="Arial"/>
              <a:buChar char="•"/>
            </a:pPr>
            <a:r>
              <a:rPr lang="en-US" sz="1800" dirty="0">
                <a:latin typeface="Times New Roman" panose="02020603050405020304" pitchFamily="18" charset="0"/>
                <a:ea typeface="Calibri"/>
                <a:cs typeface="Times New Roman" panose="02020603050405020304" pitchFamily="18" charset="0"/>
              </a:rPr>
              <a:t>Inputs</a:t>
            </a:r>
          </a:p>
          <a:p>
            <a:pPr marL="914400" indent="-457200">
              <a:buFont typeface="Arial"/>
              <a:buChar char="•"/>
            </a:pPr>
            <a:r>
              <a:rPr lang="en-US" sz="1800" dirty="0">
                <a:latin typeface="Times New Roman" panose="02020603050405020304" pitchFamily="18" charset="0"/>
                <a:ea typeface="Calibri"/>
                <a:cs typeface="Times New Roman" panose="02020603050405020304" pitchFamily="18" charset="0"/>
              </a:rPr>
              <a:t>Expected Outputs</a:t>
            </a:r>
          </a:p>
          <a:p>
            <a:pPr marL="914400" indent="-457200">
              <a:buFont typeface="Arial"/>
              <a:buChar char="•"/>
            </a:pPr>
            <a:r>
              <a:rPr lang="en-US" sz="1800" dirty="0">
                <a:latin typeface="Times New Roman" panose="02020603050405020304" pitchFamily="18" charset="0"/>
                <a:ea typeface="Calibri"/>
                <a:cs typeface="Times New Roman" panose="02020603050405020304" pitchFamily="18" charset="0"/>
              </a:rPr>
              <a:t>Flowchart</a:t>
            </a:r>
          </a:p>
          <a:p>
            <a:pPr marL="914400" indent="-457200">
              <a:buFont typeface="Arial"/>
              <a:buChar char="•"/>
            </a:pPr>
            <a:r>
              <a:rPr lang="en-US" sz="1800" dirty="0">
                <a:latin typeface="Times New Roman" panose="02020603050405020304" pitchFamily="18" charset="0"/>
                <a:ea typeface="Calibri"/>
                <a:cs typeface="Times New Roman" panose="02020603050405020304" pitchFamily="18" charset="0"/>
              </a:rPr>
              <a:t>Team Contribution</a:t>
            </a:r>
          </a:p>
          <a:p>
            <a:pPr marL="914400" indent="-457200">
              <a:buFont typeface="Arial"/>
              <a:buChar char="•"/>
            </a:pPr>
            <a:r>
              <a:rPr lang="en-US" sz="1800" dirty="0">
                <a:latin typeface="Times New Roman" panose="02020603050405020304" pitchFamily="18" charset="0"/>
                <a:ea typeface="Calibri"/>
                <a:cs typeface="Times New Roman" panose="02020603050405020304" pitchFamily="18" charset="0"/>
              </a:rPr>
              <a:t>Conclusion</a:t>
            </a:r>
          </a:p>
          <a:p>
            <a:pPr marL="914400" indent="-457200">
              <a:buFont typeface="Arial"/>
              <a:buChar char="•"/>
            </a:pPr>
            <a:r>
              <a:rPr lang="en-US" sz="1800" dirty="0">
                <a:latin typeface="Times New Roman" panose="02020603050405020304" pitchFamily="18" charset="0"/>
                <a:ea typeface="Calibri"/>
                <a:cs typeface="Times New Roman" panose="02020603050405020304" pitchFamily="18" charset="0"/>
              </a:rPr>
              <a:t>References </a:t>
            </a:r>
          </a:p>
          <a:p>
            <a:endParaRPr lang="en-US" sz="1800" dirty="0">
              <a:latin typeface="Bookman Old Style"/>
              <a:ea typeface="Calibri"/>
              <a:cs typeface="Calibri"/>
            </a:endParaRPr>
          </a:p>
          <a:p>
            <a:endParaRPr lang="en-US" sz="1800" dirty="0">
              <a:latin typeface="Bookman Old Style"/>
              <a:ea typeface="Calibri"/>
              <a:cs typeface="Calibri"/>
            </a:endParaRPr>
          </a:p>
          <a:p>
            <a:endParaRPr lang="en-US" sz="1800" dirty="0">
              <a:latin typeface="Bookman Old Style"/>
              <a:ea typeface="Calibri"/>
              <a:cs typeface="Calibri"/>
            </a:endParaRPr>
          </a:p>
          <a:p>
            <a:endParaRPr lang="en-US" sz="1800" dirty="0">
              <a:latin typeface="Bookman Old Style"/>
              <a:ea typeface="Calibri"/>
              <a:cs typeface="Calibri"/>
            </a:endParaRPr>
          </a:p>
        </p:txBody>
      </p:sp>
      <p:grpSp>
        <p:nvGrpSpPr>
          <p:cNvPr id="3" name="object 3">
            <a:extLst>
              <a:ext uri="{FF2B5EF4-FFF2-40B4-BE49-F238E27FC236}">
                <a16:creationId xmlns:a16="http://schemas.microsoft.com/office/drawing/2014/main" id="{40A6D3CB-C42C-4309-B0EC-D2CF5FB155B1}"/>
              </a:ext>
            </a:extLst>
          </p:cNvPr>
          <p:cNvGrpSpPr/>
          <p:nvPr/>
        </p:nvGrpSpPr>
        <p:grpSpPr>
          <a:xfrm>
            <a:off x="3424237" y="165549"/>
            <a:ext cx="5103904" cy="1198311"/>
            <a:chOff x="2648188" y="47148"/>
            <a:chExt cx="5103904" cy="1198311"/>
          </a:xfrm>
        </p:grpSpPr>
        <p:pic>
          <p:nvPicPr>
            <p:cNvPr id="4" name="object 4">
              <a:extLst>
                <a:ext uri="{FF2B5EF4-FFF2-40B4-BE49-F238E27FC236}">
                  <a16:creationId xmlns:a16="http://schemas.microsoft.com/office/drawing/2014/main" id="{D23F2DEA-1A14-4ABF-ACB0-D18D7647DA44}"/>
                </a:ext>
              </a:extLst>
            </p:cNvPr>
            <p:cNvPicPr/>
            <p:nvPr/>
          </p:nvPicPr>
          <p:blipFill>
            <a:blip r:embed="rId2" cstate="print"/>
            <a:stretch>
              <a:fillRect/>
            </a:stretch>
          </p:blipFill>
          <p:spPr>
            <a:xfrm>
              <a:off x="2648188" y="47148"/>
              <a:ext cx="5103904" cy="1198311"/>
            </a:xfrm>
            <a:prstGeom prst="rect">
              <a:avLst/>
            </a:prstGeom>
          </p:spPr>
        </p:pic>
        <p:pic>
          <p:nvPicPr>
            <p:cNvPr id="5" name="object 5">
              <a:extLst>
                <a:ext uri="{FF2B5EF4-FFF2-40B4-BE49-F238E27FC236}">
                  <a16:creationId xmlns:a16="http://schemas.microsoft.com/office/drawing/2014/main" id="{D4C3237C-EE28-4D96-865E-0037A3E5E6CA}"/>
                </a:ext>
              </a:extLst>
            </p:cNvPr>
            <p:cNvPicPr/>
            <p:nvPr/>
          </p:nvPicPr>
          <p:blipFill>
            <a:blip r:embed="rId3" cstate="print"/>
            <a:stretch>
              <a:fillRect/>
            </a:stretch>
          </p:blipFill>
          <p:spPr>
            <a:xfrm>
              <a:off x="2703195" y="86439"/>
              <a:ext cx="4997767" cy="1092279"/>
            </a:xfrm>
            <a:prstGeom prst="rect">
              <a:avLst/>
            </a:prstGeom>
          </p:spPr>
        </p:pic>
        <p:pic>
          <p:nvPicPr>
            <p:cNvPr id="6" name="object 6">
              <a:extLst>
                <a:ext uri="{FF2B5EF4-FFF2-40B4-BE49-F238E27FC236}">
                  <a16:creationId xmlns:a16="http://schemas.microsoft.com/office/drawing/2014/main" id="{FB263FA3-EDE2-4772-9884-6912E09CF548}"/>
                </a:ext>
              </a:extLst>
            </p:cNvPr>
            <p:cNvPicPr/>
            <p:nvPr/>
          </p:nvPicPr>
          <p:blipFill>
            <a:blip r:embed="rId4" cstate="print"/>
            <a:stretch>
              <a:fillRect/>
            </a:stretch>
          </p:blipFill>
          <p:spPr>
            <a:xfrm>
              <a:off x="2828925" y="243549"/>
              <a:ext cx="4585268" cy="522565"/>
            </a:xfrm>
            <a:prstGeom prst="rect">
              <a:avLst/>
            </a:prstGeom>
          </p:spPr>
        </p:pic>
        <p:sp>
          <p:nvSpPr>
            <p:cNvPr id="7" name="object 7">
              <a:extLst>
                <a:ext uri="{FF2B5EF4-FFF2-40B4-BE49-F238E27FC236}">
                  <a16:creationId xmlns:a16="http://schemas.microsoft.com/office/drawing/2014/main" id="{0460288A-6057-41F2-A762-6F15E1D0114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8" name="TextBox 7">
            <a:extLst>
              <a:ext uri="{FF2B5EF4-FFF2-40B4-BE49-F238E27FC236}">
                <a16:creationId xmlns:a16="http://schemas.microsoft.com/office/drawing/2014/main" id="{C20EAFB8-EF72-407E-BBA0-B6724470B028}"/>
              </a:ext>
            </a:extLst>
          </p:cNvPr>
          <p:cNvSpPr txBox="1"/>
          <p:nvPr/>
        </p:nvSpPr>
        <p:spPr>
          <a:xfrm>
            <a:off x="5212999" y="358966"/>
            <a:ext cx="1563248" cy="523220"/>
          </a:xfrm>
          <a:prstGeom prst="rect">
            <a:avLst/>
          </a:prstGeom>
          <a:noFill/>
        </p:spPr>
        <p:txBody>
          <a:bodyPr wrap="none" rtlCol="0">
            <a:spAutoFit/>
          </a:bodyPr>
          <a:lstStyle/>
          <a:p>
            <a:r>
              <a:rPr lang="en-US" sz="28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Contents</a:t>
            </a:r>
            <a:endParaRPr lang="en-IN" sz="28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89223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79E43CD-4531-4D0A-BF0C-2E065CE934A8}"/>
              </a:ext>
            </a:extLst>
          </p:cNvPr>
          <p:cNvSpPr>
            <a:spLocks noGrp="1"/>
          </p:cNvSpPr>
          <p:nvPr>
            <p:ph/>
          </p:nvPr>
        </p:nvSpPr>
        <p:spPr>
          <a:xfrm>
            <a:off x="718389" y="1520315"/>
            <a:ext cx="10515600" cy="4531419"/>
          </a:xfrm>
        </p:spPr>
        <p:txBody>
          <a:bodyPr>
            <a:normAutofit fontScale="77500" lnSpcReduction="20000"/>
          </a:bodyPr>
          <a:lstStyle/>
          <a:p>
            <a:pPr>
              <a:lnSpc>
                <a:spcPct val="150000"/>
              </a:lnSpc>
            </a:pPr>
            <a:r>
              <a:rPr lang="en-IN" dirty="0"/>
              <a:t>The Student Record Manager is a C++ application designed to store, manage and </a:t>
            </a:r>
            <a:r>
              <a:rPr lang="en-IN" dirty="0" err="1"/>
              <a:t>analyze</a:t>
            </a:r>
            <a:r>
              <a:rPr lang="en-IN" dirty="0"/>
              <a:t> student records in an organized way. It uses arrays to hold student data and Object-Oriented Programming concepts such as classes, objects, constructors and member functions to keep data and operations together. The system allows the user to add student details, display all records, and search for a particular student using roll number or name. It also </a:t>
            </a:r>
            <a:r>
              <a:rPr lang="en-IN" dirty="0" err="1"/>
              <a:t>analyzes</a:t>
            </a:r>
            <a:r>
              <a:rPr lang="en-IN" dirty="0"/>
              <a:t> marks by finding the highest marks, lowest marks and average marks of the class. String handling operations are used to format and compare student names. The project provides a simple, menu-driven and efficient way to manage student information while demonstrating arrays, searching, string handling and OOP concepts in C++.</a:t>
            </a:r>
          </a:p>
        </p:txBody>
      </p:sp>
      <p:grpSp>
        <p:nvGrpSpPr>
          <p:cNvPr id="3" name="object 3">
            <a:extLst>
              <a:ext uri="{FF2B5EF4-FFF2-40B4-BE49-F238E27FC236}">
                <a16:creationId xmlns:a16="http://schemas.microsoft.com/office/drawing/2014/main" id="{7D19BE7A-454A-4F37-B556-5EB6B7EC2D13}"/>
              </a:ext>
            </a:extLst>
          </p:cNvPr>
          <p:cNvGrpSpPr/>
          <p:nvPr/>
        </p:nvGrpSpPr>
        <p:grpSpPr>
          <a:xfrm>
            <a:off x="3424237" y="165549"/>
            <a:ext cx="5103904" cy="1198311"/>
            <a:chOff x="2648188" y="47148"/>
            <a:chExt cx="5103904" cy="1198311"/>
          </a:xfrm>
        </p:grpSpPr>
        <p:pic>
          <p:nvPicPr>
            <p:cNvPr id="4" name="object 4">
              <a:extLst>
                <a:ext uri="{FF2B5EF4-FFF2-40B4-BE49-F238E27FC236}">
                  <a16:creationId xmlns:a16="http://schemas.microsoft.com/office/drawing/2014/main" id="{57A574ED-F380-4A6D-BFEE-FD5A96B0D9DC}"/>
                </a:ext>
              </a:extLst>
            </p:cNvPr>
            <p:cNvPicPr/>
            <p:nvPr/>
          </p:nvPicPr>
          <p:blipFill>
            <a:blip r:embed="rId2" cstate="print"/>
            <a:stretch>
              <a:fillRect/>
            </a:stretch>
          </p:blipFill>
          <p:spPr>
            <a:xfrm>
              <a:off x="2648188" y="47148"/>
              <a:ext cx="5103904" cy="1198311"/>
            </a:xfrm>
            <a:prstGeom prst="rect">
              <a:avLst/>
            </a:prstGeom>
          </p:spPr>
        </p:pic>
        <p:pic>
          <p:nvPicPr>
            <p:cNvPr id="5" name="object 5">
              <a:extLst>
                <a:ext uri="{FF2B5EF4-FFF2-40B4-BE49-F238E27FC236}">
                  <a16:creationId xmlns:a16="http://schemas.microsoft.com/office/drawing/2014/main" id="{C9AC2A5B-B5E9-4167-9FED-DA4B89C1D10C}"/>
                </a:ext>
              </a:extLst>
            </p:cNvPr>
            <p:cNvPicPr/>
            <p:nvPr/>
          </p:nvPicPr>
          <p:blipFill>
            <a:blip r:embed="rId3" cstate="print"/>
            <a:stretch>
              <a:fillRect/>
            </a:stretch>
          </p:blipFill>
          <p:spPr>
            <a:xfrm>
              <a:off x="2703195" y="86439"/>
              <a:ext cx="4997767" cy="1092279"/>
            </a:xfrm>
            <a:prstGeom prst="rect">
              <a:avLst/>
            </a:prstGeom>
          </p:spPr>
        </p:pic>
        <p:pic>
          <p:nvPicPr>
            <p:cNvPr id="6" name="object 6">
              <a:extLst>
                <a:ext uri="{FF2B5EF4-FFF2-40B4-BE49-F238E27FC236}">
                  <a16:creationId xmlns:a16="http://schemas.microsoft.com/office/drawing/2014/main" id="{2CCDE6AA-1D9A-40AE-9B0B-641EC5042446}"/>
                </a:ext>
              </a:extLst>
            </p:cNvPr>
            <p:cNvPicPr/>
            <p:nvPr/>
          </p:nvPicPr>
          <p:blipFill>
            <a:blip r:embed="rId4" cstate="print"/>
            <a:stretch>
              <a:fillRect/>
            </a:stretch>
          </p:blipFill>
          <p:spPr>
            <a:xfrm>
              <a:off x="2828925" y="243549"/>
              <a:ext cx="4585268" cy="522565"/>
            </a:xfrm>
            <a:prstGeom prst="rect">
              <a:avLst/>
            </a:prstGeom>
          </p:spPr>
        </p:pic>
        <p:sp>
          <p:nvSpPr>
            <p:cNvPr id="7" name="object 7">
              <a:extLst>
                <a:ext uri="{FF2B5EF4-FFF2-40B4-BE49-F238E27FC236}">
                  <a16:creationId xmlns:a16="http://schemas.microsoft.com/office/drawing/2014/main" id="{EF3A6F86-2F1B-45F5-8941-0CF32C7AE88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8" name="TextBox 7">
            <a:extLst>
              <a:ext uri="{FF2B5EF4-FFF2-40B4-BE49-F238E27FC236}">
                <a16:creationId xmlns:a16="http://schemas.microsoft.com/office/drawing/2014/main" id="{BFF20741-BD96-4FC3-B318-909271AAC88F}"/>
              </a:ext>
            </a:extLst>
          </p:cNvPr>
          <p:cNvSpPr txBox="1"/>
          <p:nvPr/>
        </p:nvSpPr>
        <p:spPr>
          <a:xfrm>
            <a:off x="5037025" y="361295"/>
            <a:ext cx="1721166" cy="523220"/>
          </a:xfrm>
          <a:prstGeom prst="rect">
            <a:avLst/>
          </a:prstGeom>
          <a:noFill/>
        </p:spPr>
        <p:txBody>
          <a:bodyPr wrap="square" rtlCol="0">
            <a:spAutoFit/>
          </a:bodyPr>
          <a:lstStyle/>
          <a:p>
            <a:r>
              <a:rPr lang="en-US" b="1" dirty="0">
                <a:solidFill>
                  <a:schemeClr val="bg1"/>
                </a:solidFill>
                <a:effectLst>
                  <a:outerShdw blurRad="38100" dist="38100" dir="2700000" algn="tl">
                    <a:srgbClr val="000000">
                      <a:alpha val="43137"/>
                    </a:srgbClr>
                  </a:outerShdw>
                </a:effectLst>
              </a:rPr>
              <a:t>    </a:t>
            </a:r>
            <a:r>
              <a:rPr lang="en-US" sz="28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Abstract</a:t>
            </a:r>
            <a:r>
              <a:rPr lang="en-US" sz="2800" b="1" dirty="0">
                <a:solidFill>
                  <a:schemeClr val="bg1"/>
                </a:solidFill>
                <a:effectLst>
                  <a:outerShdw blurRad="38100" dist="38100" dir="2700000" algn="tl">
                    <a:srgbClr val="000000">
                      <a:alpha val="43137"/>
                    </a:srgbClr>
                  </a:outerShdw>
                </a:effectLst>
              </a:rPr>
              <a:t> </a:t>
            </a:r>
            <a:r>
              <a:rPr lang="en-US" b="1" dirty="0">
                <a:solidFill>
                  <a:schemeClr val="bg1"/>
                </a:solidFill>
                <a:effectLst>
                  <a:outerShdw blurRad="38100" dist="38100" dir="2700000" algn="tl">
                    <a:srgbClr val="000000">
                      <a:alpha val="43137"/>
                    </a:srgbClr>
                  </a:outerShdw>
                </a:effectLst>
              </a:rPr>
              <a:t>                                    </a:t>
            </a:r>
            <a:endParaRPr lang="en-IN" b="1" dirty="0">
              <a:solidFill>
                <a:schemeClr val="bg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9992271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44043D3-2EF4-4991-8A90-A22BED3D03C2}"/>
              </a:ext>
            </a:extLst>
          </p:cNvPr>
          <p:cNvSpPr>
            <a:spLocks noGrp="1"/>
          </p:cNvSpPr>
          <p:nvPr>
            <p:ph/>
          </p:nvPr>
        </p:nvSpPr>
        <p:spPr>
          <a:xfrm>
            <a:off x="784913" y="1520970"/>
            <a:ext cx="10515600" cy="4531419"/>
          </a:xfrm>
        </p:spPr>
        <p:txBody>
          <a:bodyPr>
            <a:normAutofit fontScale="77500" lnSpcReduction="20000"/>
          </a:bodyPr>
          <a:lstStyle/>
          <a:p>
            <a:pPr>
              <a:lnSpc>
                <a:spcPct val="150000"/>
              </a:lnSpc>
            </a:pPr>
            <a:r>
              <a:rPr lang="en-IN" sz="3100" dirty="0"/>
              <a:t>Student information such as roll number, name, section and subject marks is needed every day in a department. When this data is written on paper or kept in separate lists, it becomes difficult to update, search and compare. The Student Record Manager solves this by storing each student as an object of a class, so that the details and the operations on them stay together in one place.</a:t>
            </a:r>
          </a:p>
          <a:p>
            <a:pPr>
              <a:lnSpc>
                <a:spcPct val="150000"/>
              </a:lnSpc>
            </a:pPr>
            <a:r>
              <a:rPr lang="en-IN" sz="3100" dirty="0"/>
              <a:t>The system is developed in C++ using classes and objects, arrays of objects, strings and functions. An array holds many student records at once, and a menu-driven interface lets the user add records, display them, search for a student and </a:t>
            </a:r>
            <a:r>
              <a:rPr lang="en-IN" sz="3100" dirty="0" err="1"/>
              <a:t>analyze</a:t>
            </a:r>
            <a:r>
              <a:rPr lang="en-IN" sz="3100" dirty="0"/>
              <a:t> marks easily from the console.</a:t>
            </a:r>
          </a:p>
          <a:p>
            <a:pPr algn="just"/>
            <a:endParaRPr lang="en-IN" dirty="0"/>
          </a:p>
        </p:txBody>
      </p:sp>
      <p:grpSp>
        <p:nvGrpSpPr>
          <p:cNvPr id="3" name="object 3">
            <a:extLst>
              <a:ext uri="{FF2B5EF4-FFF2-40B4-BE49-F238E27FC236}">
                <a16:creationId xmlns:a16="http://schemas.microsoft.com/office/drawing/2014/main" id="{246C8C05-18CD-4D94-8ABF-A474081893B1}"/>
              </a:ext>
            </a:extLst>
          </p:cNvPr>
          <p:cNvGrpSpPr/>
          <p:nvPr/>
        </p:nvGrpSpPr>
        <p:grpSpPr>
          <a:xfrm>
            <a:off x="3424237" y="165549"/>
            <a:ext cx="5103904" cy="1198311"/>
            <a:chOff x="2648188" y="47148"/>
            <a:chExt cx="5103904" cy="1198311"/>
          </a:xfrm>
        </p:grpSpPr>
        <p:pic>
          <p:nvPicPr>
            <p:cNvPr id="4" name="object 4">
              <a:extLst>
                <a:ext uri="{FF2B5EF4-FFF2-40B4-BE49-F238E27FC236}">
                  <a16:creationId xmlns:a16="http://schemas.microsoft.com/office/drawing/2014/main" id="{077DDB9E-7058-4D69-9E5C-BB82E8B69386}"/>
                </a:ext>
              </a:extLst>
            </p:cNvPr>
            <p:cNvPicPr/>
            <p:nvPr/>
          </p:nvPicPr>
          <p:blipFill>
            <a:blip r:embed="rId2" cstate="print"/>
            <a:stretch>
              <a:fillRect/>
            </a:stretch>
          </p:blipFill>
          <p:spPr>
            <a:xfrm>
              <a:off x="2648188" y="47148"/>
              <a:ext cx="5103904" cy="1198311"/>
            </a:xfrm>
            <a:prstGeom prst="rect">
              <a:avLst/>
            </a:prstGeom>
          </p:spPr>
        </p:pic>
        <p:pic>
          <p:nvPicPr>
            <p:cNvPr id="5" name="object 5">
              <a:extLst>
                <a:ext uri="{FF2B5EF4-FFF2-40B4-BE49-F238E27FC236}">
                  <a16:creationId xmlns:a16="http://schemas.microsoft.com/office/drawing/2014/main" id="{455839A7-E020-40AD-AA36-74143FC7A68C}"/>
                </a:ext>
              </a:extLst>
            </p:cNvPr>
            <p:cNvPicPr/>
            <p:nvPr/>
          </p:nvPicPr>
          <p:blipFill>
            <a:blip r:embed="rId3" cstate="print"/>
            <a:stretch>
              <a:fillRect/>
            </a:stretch>
          </p:blipFill>
          <p:spPr>
            <a:xfrm>
              <a:off x="2703195" y="86439"/>
              <a:ext cx="4997767" cy="1092279"/>
            </a:xfrm>
            <a:prstGeom prst="rect">
              <a:avLst/>
            </a:prstGeom>
          </p:spPr>
        </p:pic>
        <p:pic>
          <p:nvPicPr>
            <p:cNvPr id="6" name="object 6">
              <a:extLst>
                <a:ext uri="{FF2B5EF4-FFF2-40B4-BE49-F238E27FC236}">
                  <a16:creationId xmlns:a16="http://schemas.microsoft.com/office/drawing/2014/main" id="{8D1A94C3-1ABF-42D7-AD8F-F380A3B0F007}"/>
                </a:ext>
              </a:extLst>
            </p:cNvPr>
            <p:cNvPicPr/>
            <p:nvPr/>
          </p:nvPicPr>
          <p:blipFill>
            <a:blip r:embed="rId4" cstate="print"/>
            <a:stretch>
              <a:fillRect/>
            </a:stretch>
          </p:blipFill>
          <p:spPr>
            <a:xfrm>
              <a:off x="2828925" y="243549"/>
              <a:ext cx="4585268" cy="522565"/>
            </a:xfrm>
            <a:prstGeom prst="rect">
              <a:avLst/>
            </a:prstGeom>
          </p:spPr>
        </p:pic>
        <p:sp>
          <p:nvSpPr>
            <p:cNvPr id="7" name="object 7">
              <a:extLst>
                <a:ext uri="{FF2B5EF4-FFF2-40B4-BE49-F238E27FC236}">
                  <a16:creationId xmlns:a16="http://schemas.microsoft.com/office/drawing/2014/main" id="{0A4FCB40-7569-4037-8153-9FD18495E5D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8" name="TextBox 7">
            <a:extLst>
              <a:ext uri="{FF2B5EF4-FFF2-40B4-BE49-F238E27FC236}">
                <a16:creationId xmlns:a16="http://schemas.microsoft.com/office/drawing/2014/main" id="{92115527-4EB4-414A-9A50-2D07483C0BE1}"/>
              </a:ext>
            </a:extLst>
          </p:cNvPr>
          <p:cNvSpPr txBox="1"/>
          <p:nvPr/>
        </p:nvSpPr>
        <p:spPr>
          <a:xfrm>
            <a:off x="4971747" y="347962"/>
            <a:ext cx="2141933" cy="523220"/>
          </a:xfrm>
          <a:prstGeom prst="rect">
            <a:avLst/>
          </a:prstGeom>
          <a:noFill/>
        </p:spPr>
        <p:txBody>
          <a:bodyPr wrap="none" rtlCol="0">
            <a:spAutoFit/>
          </a:bodyPr>
          <a:lstStyle/>
          <a:p>
            <a:r>
              <a:rPr lang="en-US" sz="28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Introduction</a:t>
            </a:r>
            <a:endParaRPr lang="en-IN" sz="28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5409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5E43BFE-91EF-4316-93C5-AF4E551E4819}"/>
              </a:ext>
            </a:extLst>
          </p:cNvPr>
          <p:cNvSpPr>
            <a:spLocks noGrp="1"/>
          </p:cNvSpPr>
          <p:nvPr>
            <p:ph/>
          </p:nvPr>
        </p:nvSpPr>
        <p:spPr>
          <a:xfrm>
            <a:off x="326502" y="1163290"/>
            <a:ext cx="11778411" cy="4531419"/>
          </a:xfrm>
        </p:spPr>
        <p:txBody>
          <a:bodyPr>
            <a:normAutofit fontScale="25000" lnSpcReduction="20000"/>
          </a:bodyPr>
          <a:lstStyle/>
          <a:p>
            <a:pPr>
              <a:lnSpc>
                <a:spcPct val="170000"/>
              </a:lnSpc>
            </a:pPr>
            <a:r>
              <a:rPr lang="en-IN" sz="9600" dirty="0"/>
              <a:t>Managing student records manually becomes difficult as the number of students increases. Writing every student's details, searching for one particular student, and finding the highest, lowest and average marks by hand takes a lot of time. Records can be entered wrongly, names can be written in different styles, and data can be mixed up or lost.</a:t>
            </a:r>
          </a:p>
          <a:p>
            <a:pPr>
              <a:lnSpc>
                <a:spcPct val="170000"/>
              </a:lnSpc>
            </a:pPr>
            <a:r>
              <a:rPr lang="en-IN" sz="9600" dirty="0"/>
              <a:t>The proposed Student Record Manager solves these problems by providing a C++ application in which student details are stored in an array of objects. The user can add and display records, search for a student by roll number or name, and get the highest, lowest and average marks automatically. Names are handled using string operations to keep the data neat and consistent.</a:t>
            </a:r>
          </a:p>
          <a:p>
            <a:pPr algn="just"/>
            <a:endParaRPr lang="en-IN" sz="2400" dirty="0">
              <a:latin typeface="Times New Roman" panose="02020603050405020304" pitchFamily="18" charset="0"/>
              <a:cs typeface="Times New Roman" panose="02020603050405020304" pitchFamily="18" charset="0"/>
            </a:endParaRPr>
          </a:p>
        </p:txBody>
      </p:sp>
      <p:grpSp>
        <p:nvGrpSpPr>
          <p:cNvPr id="3" name="object 3">
            <a:extLst>
              <a:ext uri="{FF2B5EF4-FFF2-40B4-BE49-F238E27FC236}">
                <a16:creationId xmlns:a16="http://schemas.microsoft.com/office/drawing/2014/main" id="{063F8164-A5DB-4287-80DE-7893EE19F932}"/>
              </a:ext>
            </a:extLst>
          </p:cNvPr>
          <p:cNvGrpSpPr/>
          <p:nvPr/>
        </p:nvGrpSpPr>
        <p:grpSpPr>
          <a:xfrm>
            <a:off x="3424237" y="165549"/>
            <a:ext cx="5103904" cy="1198311"/>
            <a:chOff x="2648188" y="47148"/>
            <a:chExt cx="5103904" cy="1198311"/>
          </a:xfrm>
        </p:grpSpPr>
        <p:pic>
          <p:nvPicPr>
            <p:cNvPr id="4" name="object 4">
              <a:extLst>
                <a:ext uri="{FF2B5EF4-FFF2-40B4-BE49-F238E27FC236}">
                  <a16:creationId xmlns:a16="http://schemas.microsoft.com/office/drawing/2014/main" id="{0839EB1B-EAC3-4588-9026-B2519725EC18}"/>
                </a:ext>
              </a:extLst>
            </p:cNvPr>
            <p:cNvPicPr/>
            <p:nvPr/>
          </p:nvPicPr>
          <p:blipFill>
            <a:blip r:embed="rId2" cstate="print"/>
            <a:stretch>
              <a:fillRect/>
            </a:stretch>
          </p:blipFill>
          <p:spPr>
            <a:xfrm>
              <a:off x="2648188" y="47148"/>
              <a:ext cx="5103904" cy="1198311"/>
            </a:xfrm>
            <a:prstGeom prst="rect">
              <a:avLst/>
            </a:prstGeom>
          </p:spPr>
        </p:pic>
        <p:pic>
          <p:nvPicPr>
            <p:cNvPr id="5" name="object 5">
              <a:extLst>
                <a:ext uri="{FF2B5EF4-FFF2-40B4-BE49-F238E27FC236}">
                  <a16:creationId xmlns:a16="http://schemas.microsoft.com/office/drawing/2014/main" id="{5D08E78C-1327-44CA-8014-01339BD8F2B9}"/>
                </a:ext>
              </a:extLst>
            </p:cNvPr>
            <p:cNvPicPr/>
            <p:nvPr/>
          </p:nvPicPr>
          <p:blipFill>
            <a:blip r:embed="rId3" cstate="print"/>
            <a:stretch>
              <a:fillRect/>
            </a:stretch>
          </p:blipFill>
          <p:spPr>
            <a:xfrm>
              <a:off x="2703195" y="86439"/>
              <a:ext cx="4997767" cy="1092279"/>
            </a:xfrm>
            <a:prstGeom prst="rect">
              <a:avLst/>
            </a:prstGeom>
          </p:spPr>
        </p:pic>
        <p:pic>
          <p:nvPicPr>
            <p:cNvPr id="6" name="object 6">
              <a:extLst>
                <a:ext uri="{FF2B5EF4-FFF2-40B4-BE49-F238E27FC236}">
                  <a16:creationId xmlns:a16="http://schemas.microsoft.com/office/drawing/2014/main" id="{AA1BD227-29B0-4F78-92BF-0FA66516D4EC}"/>
                </a:ext>
              </a:extLst>
            </p:cNvPr>
            <p:cNvPicPr/>
            <p:nvPr/>
          </p:nvPicPr>
          <p:blipFill>
            <a:blip r:embed="rId4" cstate="print"/>
            <a:stretch>
              <a:fillRect/>
            </a:stretch>
          </p:blipFill>
          <p:spPr>
            <a:xfrm>
              <a:off x="2828925" y="243549"/>
              <a:ext cx="4585268" cy="522565"/>
            </a:xfrm>
            <a:prstGeom prst="rect">
              <a:avLst/>
            </a:prstGeom>
          </p:spPr>
        </p:pic>
        <p:sp>
          <p:nvSpPr>
            <p:cNvPr id="7" name="object 7">
              <a:extLst>
                <a:ext uri="{FF2B5EF4-FFF2-40B4-BE49-F238E27FC236}">
                  <a16:creationId xmlns:a16="http://schemas.microsoft.com/office/drawing/2014/main" id="{397BDDCC-D972-4F98-BB81-80CD2011162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8" name="TextBox 7">
            <a:extLst>
              <a:ext uri="{FF2B5EF4-FFF2-40B4-BE49-F238E27FC236}">
                <a16:creationId xmlns:a16="http://schemas.microsoft.com/office/drawing/2014/main" id="{B5506A98-6F91-461A-A3BB-37A833C55979}"/>
              </a:ext>
            </a:extLst>
          </p:cNvPr>
          <p:cNvSpPr txBox="1"/>
          <p:nvPr/>
        </p:nvSpPr>
        <p:spPr>
          <a:xfrm>
            <a:off x="4381808" y="347962"/>
            <a:ext cx="3148619" cy="523220"/>
          </a:xfrm>
          <a:prstGeom prst="rect">
            <a:avLst/>
          </a:prstGeom>
          <a:noFill/>
        </p:spPr>
        <p:txBody>
          <a:bodyPr wrap="none" rtlCol="0">
            <a:spAutoFit/>
          </a:bodyPr>
          <a:lstStyle/>
          <a:p>
            <a:r>
              <a:rPr lang="en-US" sz="28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Problem</a:t>
            </a:r>
            <a:r>
              <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Statement</a:t>
            </a:r>
            <a:endParaRPr lang="en-IN" sz="28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6664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3">
            <a:extLst>
              <a:ext uri="{FF2B5EF4-FFF2-40B4-BE49-F238E27FC236}">
                <a16:creationId xmlns:a16="http://schemas.microsoft.com/office/drawing/2014/main" id="{AC32BD34-C2E5-4298-BE55-F4C121549104}"/>
              </a:ext>
            </a:extLst>
          </p:cNvPr>
          <p:cNvGrpSpPr/>
          <p:nvPr/>
        </p:nvGrpSpPr>
        <p:grpSpPr>
          <a:xfrm>
            <a:off x="3424237" y="165549"/>
            <a:ext cx="5103904" cy="1198311"/>
            <a:chOff x="2648188" y="47148"/>
            <a:chExt cx="5103904" cy="1198311"/>
          </a:xfrm>
        </p:grpSpPr>
        <p:pic>
          <p:nvPicPr>
            <p:cNvPr id="3" name="object 4">
              <a:extLst>
                <a:ext uri="{FF2B5EF4-FFF2-40B4-BE49-F238E27FC236}">
                  <a16:creationId xmlns:a16="http://schemas.microsoft.com/office/drawing/2014/main" id="{5C3005A4-4E8F-4F69-BBBE-7C75B473F30D}"/>
                </a:ext>
              </a:extLst>
            </p:cNvPr>
            <p:cNvPicPr/>
            <p:nvPr/>
          </p:nvPicPr>
          <p:blipFill>
            <a:blip r:embed="rId2"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C6C69B8D-D257-4B88-B13C-B189D27207E0}"/>
                </a:ext>
              </a:extLst>
            </p:cNvPr>
            <p:cNvPicPr/>
            <p:nvPr/>
          </p:nvPicPr>
          <p:blipFill>
            <a:blip r:embed="rId3"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70CD883F-B3DE-4D20-B459-F2027F9F1BD3}"/>
                </a:ext>
              </a:extLst>
            </p:cNvPr>
            <p:cNvPicPr/>
            <p:nvPr/>
          </p:nvPicPr>
          <p:blipFill>
            <a:blip r:embed="rId4"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E63B2C9D-DBF8-4256-B729-E65DC3444B65}"/>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7" name="TextBox 6">
            <a:extLst>
              <a:ext uri="{FF2B5EF4-FFF2-40B4-BE49-F238E27FC236}">
                <a16:creationId xmlns:a16="http://schemas.microsoft.com/office/drawing/2014/main" id="{677FB8BA-A4D0-411B-898C-1D14346CE61B}"/>
              </a:ext>
            </a:extLst>
          </p:cNvPr>
          <p:cNvSpPr txBox="1"/>
          <p:nvPr/>
        </p:nvSpPr>
        <p:spPr>
          <a:xfrm>
            <a:off x="5076744" y="347962"/>
            <a:ext cx="1798890" cy="523220"/>
          </a:xfrm>
          <a:prstGeom prst="rect">
            <a:avLst/>
          </a:prstGeom>
          <a:noFill/>
        </p:spPr>
        <p:txBody>
          <a:bodyPr wrap="none" rtlCol="0">
            <a:spAutoFit/>
          </a:bodyPr>
          <a:lstStyle/>
          <a:p>
            <a:r>
              <a:rPr lang="en-US" sz="28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Objectives</a:t>
            </a:r>
            <a:endParaRPr lang="en-IN" sz="28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F3E68A6B-190A-43CB-806A-DE547C253DF4}"/>
              </a:ext>
            </a:extLst>
          </p:cNvPr>
          <p:cNvSpPr txBox="1"/>
          <p:nvPr/>
        </p:nvSpPr>
        <p:spPr>
          <a:xfrm>
            <a:off x="1514475" y="1985963"/>
            <a:ext cx="184731" cy="369332"/>
          </a:xfrm>
          <a:prstGeom prst="rect">
            <a:avLst/>
          </a:prstGeom>
          <a:noFill/>
        </p:spPr>
        <p:txBody>
          <a:bodyPr wrap="none" rtlCol="0">
            <a:spAutoFit/>
          </a:bodyPr>
          <a:lstStyle/>
          <a:p>
            <a:endParaRPr lang="en-IN" dirty="0"/>
          </a:p>
        </p:txBody>
      </p:sp>
      <p:sp>
        <p:nvSpPr>
          <p:cNvPr id="9" name="Rectangle 1">
            <a:extLst>
              <a:ext uri="{FF2B5EF4-FFF2-40B4-BE49-F238E27FC236}">
                <a16:creationId xmlns:a16="http://schemas.microsoft.com/office/drawing/2014/main" id="{FF127C7C-61C9-4F1B-A593-35B7FD229D24}"/>
              </a:ext>
            </a:extLst>
          </p:cNvPr>
          <p:cNvSpPr>
            <a:spLocks noChangeArrowheads="1"/>
          </p:cNvSpPr>
          <p:nvPr/>
        </p:nvSpPr>
        <p:spPr bwMode="auto">
          <a:xfrm>
            <a:off x="428626" y="3540048"/>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3">
            <a:extLst>
              <a:ext uri="{FF2B5EF4-FFF2-40B4-BE49-F238E27FC236}">
                <a16:creationId xmlns:a16="http://schemas.microsoft.com/office/drawing/2014/main" id="{333E3BF1-F789-4518-9967-3DA71E22B1C2}"/>
              </a:ext>
            </a:extLst>
          </p:cNvPr>
          <p:cNvSpPr>
            <a:spLocks noChangeArrowheads="1"/>
          </p:cNvSpPr>
          <p:nvPr/>
        </p:nvSpPr>
        <p:spPr bwMode="auto">
          <a:xfrm>
            <a:off x="693442" y="1291987"/>
            <a:ext cx="14205299" cy="5386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lvl="0" indent="-342900">
              <a:lnSpc>
                <a:spcPct val="150000"/>
              </a:lnSpc>
              <a:buFont typeface="Wingdings" pitchFamily="2" charset="2"/>
              <a:buChar char="§"/>
            </a:pPr>
            <a:r>
              <a:rPr lang="en-IN" sz="2400" dirty="0"/>
              <a:t>To develop a C++ based Student Record Manager using classes and objects.</a:t>
            </a:r>
          </a:p>
          <a:p>
            <a:pPr marL="342900" lvl="0" indent="-342900">
              <a:lnSpc>
                <a:spcPct val="150000"/>
              </a:lnSpc>
              <a:buFont typeface="Wingdings" pitchFamily="2" charset="2"/>
              <a:buChar char="§"/>
            </a:pPr>
            <a:r>
              <a:rPr lang="en-IN" sz="2400" dirty="0"/>
              <a:t>To store student details and marks in an array of objects.</a:t>
            </a:r>
          </a:p>
          <a:p>
            <a:pPr marL="342900" lvl="0" indent="-342900">
              <a:lnSpc>
                <a:spcPct val="150000"/>
              </a:lnSpc>
              <a:buFont typeface="Wingdings" pitchFamily="2" charset="2"/>
              <a:buChar char="§"/>
            </a:pPr>
            <a:r>
              <a:rPr lang="en-IN" sz="2400" dirty="0"/>
              <a:t>To add and display student records in a clear, formatted way.</a:t>
            </a:r>
          </a:p>
          <a:p>
            <a:pPr marL="342900" lvl="0" indent="-342900">
              <a:lnSpc>
                <a:spcPct val="150000"/>
              </a:lnSpc>
              <a:buFont typeface="Wingdings" pitchFamily="2" charset="2"/>
              <a:buChar char="§"/>
            </a:pPr>
            <a:r>
              <a:rPr lang="en-IN" sz="2400" dirty="0"/>
              <a:t>To search for a student using roll number or name.</a:t>
            </a:r>
          </a:p>
          <a:p>
            <a:pPr marL="342900" lvl="0" indent="-342900">
              <a:lnSpc>
                <a:spcPct val="150000"/>
              </a:lnSpc>
              <a:buFont typeface="Wingdings" pitchFamily="2" charset="2"/>
              <a:buChar char="§"/>
            </a:pPr>
            <a:r>
              <a:rPr lang="en-IN" sz="2400" dirty="0"/>
              <a:t>To find the highest and lowest marks in the class along with the student names.</a:t>
            </a:r>
          </a:p>
          <a:p>
            <a:pPr marL="342900" lvl="0" indent="-342900">
              <a:lnSpc>
                <a:spcPct val="150000"/>
              </a:lnSpc>
              <a:buFont typeface="Wingdings" pitchFamily="2" charset="2"/>
              <a:buChar char="§"/>
            </a:pPr>
            <a:r>
              <a:rPr lang="en-IN" sz="2400" dirty="0"/>
              <a:t>To calculate the average marks of each student and of the class.</a:t>
            </a:r>
          </a:p>
          <a:p>
            <a:pPr marL="342900" lvl="0" indent="-342900">
              <a:lnSpc>
                <a:spcPct val="150000"/>
              </a:lnSpc>
              <a:buFont typeface="Wingdings" pitchFamily="2" charset="2"/>
              <a:buChar char="§"/>
            </a:pPr>
            <a:r>
              <a:rPr lang="en-IN" sz="2400" dirty="0"/>
              <a:t>To perform string handling operations such as formatting, case conversion and comparison on student names.</a:t>
            </a:r>
          </a:p>
          <a:p>
            <a:pPr marL="342900" lvl="0" indent="-342900">
              <a:lnSpc>
                <a:spcPct val="150000"/>
              </a:lnSpc>
              <a:buFont typeface="Wingdings" pitchFamily="2" charset="2"/>
              <a:buChar char="§"/>
            </a:pPr>
            <a:r>
              <a:rPr lang="en-IN" sz="2400" dirty="0"/>
              <a:t>To validate the input so that wrong roll numbers and marks are not accepted.</a:t>
            </a:r>
          </a:p>
          <a:p>
            <a:pPr marL="342900" lvl="0" indent="-342900">
              <a:lnSpc>
                <a:spcPct val="150000"/>
              </a:lnSpc>
              <a:buFont typeface="Wingdings" pitchFamily="2" charset="2"/>
              <a:buChar char="§"/>
            </a:pPr>
            <a:r>
              <a:rPr lang="en-IN" sz="2400" dirty="0"/>
              <a:t>To provide an easy-to-use menu-driven interface.</a:t>
            </a:r>
          </a:p>
          <a:p>
            <a:pPr marR="0" lvl="0" algn="l" defTabSz="914400" rtl="0" eaLnBrk="0" fontAlgn="base" latinLnBrk="0" hangingPunct="0">
              <a:spcBef>
                <a:spcPct val="0"/>
              </a:spcBef>
              <a:spcAft>
                <a:spcPct val="0"/>
              </a:spcAft>
              <a:buClrTx/>
              <a:buSzTx/>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9493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F2BC2-0A21-4C1C-EFAF-774099A12BE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E9E69B-765E-AAA0-C638-2C3C84A1D311}"/>
              </a:ext>
            </a:extLst>
          </p:cNvPr>
          <p:cNvSpPr>
            <a:spLocks noGrp="1"/>
          </p:cNvSpPr>
          <p:nvPr>
            <p:ph/>
          </p:nvPr>
        </p:nvSpPr>
        <p:spPr>
          <a:xfrm>
            <a:off x="511898" y="1440241"/>
            <a:ext cx="10515600" cy="4531419"/>
          </a:xfrm>
        </p:spPr>
        <p:txBody>
          <a:bodyPr>
            <a:normAutofit/>
          </a:bodyPr>
          <a:lstStyle/>
          <a:p>
            <a:r>
              <a:rPr lang="en-IN" b="1" dirty="0"/>
              <a:t>1. Student Class</a:t>
            </a:r>
            <a:endParaRPr lang="en-IN" b="1" dirty="0">
              <a:latin typeface="Times New Roman" panose="02020603050405020304" pitchFamily="18" charset="0"/>
              <a:cs typeface="Times New Roman" panose="02020603050405020304" pitchFamily="18" charset="0"/>
            </a:endParaRPr>
          </a:p>
        </p:txBody>
      </p:sp>
      <p:grpSp>
        <p:nvGrpSpPr>
          <p:cNvPr id="3" name="object 3">
            <a:extLst>
              <a:ext uri="{FF2B5EF4-FFF2-40B4-BE49-F238E27FC236}">
                <a16:creationId xmlns:a16="http://schemas.microsoft.com/office/drawing/2014/main" id="{2BEEDBC0-1C78-89E2-1416-6CE9D907CF0C}"/>
              </a:ext>
            </a:extLst>
          </p:cNvPr>
          <p:cNvGrpSpPr/>
          <p:nvPr/>
        </p:nvGrpSpPr>
        <p:grpSpPr>
          <a:xfrm>
            <a:off x="3424237" y="165549"/>
            <a:ext cx="5103904" cy="1198311"/>
            <a:chOff x="2648188" y="47148"/>
            <a:chExt cx="5103904" cy="1198311"/>
          </a:xfrm>
        </p:grpSpPr>
        <p:pic>
          <p:nvPicPr>
            <p:cNvPr id="4" name="object 4">
              <a:extLst>
                <a:ext uri="{FF2B5EF4-FFF2-40B4-BE49-F238E27FC236}">
                  <a16:creationId xmlns:a16="http://schemas.microsoft.com/office/drawing/2014/main" id="{573EC769-0A5F-BB72-1E0A-045D16FDFA24}"/>
                </a:ext>
              </a:extLst>
            </p:cNvPr>
            <p:cNvPicPr/>
            <p:nvPr/>
          </p:nvPicPr>
          <p:blipFill>
            <a:blip r:embed="rId2" cstate="print"/>
            <a:stretch>
              <a:fillRect/>
            </a:stretch>
          </p:blipFill>
          <p:spPr>
            <a:xfrm>
              <a:off x="2648188" y="47148"/>
              <a:ext cx="5103904" cy="1198311"/>
            </a:xfrm>
            <a:prstGeom prst="rect">
              <a:avLst/>
            </a:prstGeom>
          </p:spPr>
        </p:pic>
        <p:pic>
          <p:nvPicPr>
            <p:cNvPr id="5" name="object 5">
              <a:extLst>
                <a:ext uri="{FF2B5EF4-FFF2-40B4-BE49-F238E27FC236}">
                  <a16:creationId xmlns:a16="http://schemas.microsoft.com/office/drawing/2014/main" id="{C19AFD7D-801C-7F1F-72B9-1F8CBA86A945}"/>
                </a:ext>
              </a:extLst>
            </p:cNvPr>
            <p:cNvPicPr/>
            <p:nvPr/>
          </p:nvPicPr>
          <p:blipFill>
            <a:blip r:embed="rId3" cstate="print"/>
            <a:stretch>
              <a:fillRect/>
            </a:stretch>
          </p:blipFill>
          <p:spPr>
            <a:xfrm>
              <a:off x="2703195" y="86439"/>
              <a:ext cx="4997767" cy="1092279"/>
            </a:xfrm>
            <a:prstGeom prst="rect">
              <a:avLst/>
            </a:prstGeom>
          </p:spPr>
        </p:pic>
        <p:pic>
          <p:nvPicPr>
            <p:cNvPr id="6" name="object 6">
              <a:extLst>
                <a:ext uri="{FF2B5EF4-FFF2-40B4-BE49-F238E27FC236}">
                  <a16:creationId xmlns:a16="http://schemas.microsoft.com/office/drawing/2014/main" id="{400E5A08-B98E-C3B8-D725-DF7BAAACC5D3}"/>
                </a:ext>
              </a:extLst>
            </p:cNvPr>
            <p:cNvPicPr/>
            <p:nvPr/>
          </p:nvPicPr>
          <p:blipFill>
            <a:blip r:embed="rId4" cstate="print"/>
            <a:stretch>
              <a:fillRect/>
            </a:stretch>
          </p:blipFill>
          <p:spPr>
            <a:xfrm>
              <a:off x="2828925" y="243549"/>
              <a:ext cx="4585268" cy="522565"/>
            </a:xfrm>
            <a:prstGeom prst="rect">
              <a:avLst/>
            </a:prstGeom>
          </p:spPr>
        </p:pic>
        <p:sp>
          <p:nvSpPr>
            <p:cNvPr id="7" name="object 7">
              <a:extLst>
                <a:ext uri="{FF2B5EF4-FFF2-40B4-BE49-F238E27FC236}">
                  <a16:creationId xmlns:a16="http://schemas.microsoft.com/office/drawing/2014/main" id="{732D457A-4BCD-D037-CAF7-1DD55B19302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8" name="TextBox 7">
            <a:extLst>
              <a:ext uri="{FF2B5EF4-FFF2-40B4-BE49-F238E27FC236}">
                <a16:creationId xmlns:a16="http://schemas.microsoft.com/office/drawing/2014/main" id="{F0F3C785-76FA-88D0-65A6-887EA132F4E9}"/>
              </a:ext>
            </a:extLst>
          </p:cNvPr>
          <p:cNvSpPr txBox="1"/>
          <p:nvPr/>
        </p:nvSpPr>
        <p:spPr>
          <a:xfrm>
            <a:off x="4193455" y="347962"/>
            <a:ext cx="3408305" cy="523220"/>
          </a:xfrm>
          <a:prstGeom prst="rect">
            <a:avLst/>
          </a:prstGeom>
          <a:noFill/>
        </p:spPr>
        <p:txBody>
          <a:bodyPr wrap="none" rtlCol="0">
            <a:spAutoFit/>
          </a:bodyPr>
          <a:lstStyle/>
          <a:p>
            <a:r>
              <a:rPr lang="en-US" sz="28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Modules &amp;Functions</a:t>
            </a:r>
            <a:endParaRPr lang="en-IN" sz="28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Rectangle 1">
            <a:extLst>
              <a:ext uri="{FF2B5EF4-FFF2-40B4-BE49-F238E27FC236}">
                <a16:creationId xmlns:a16="http://schemas.microsoft.com/office/drawing/2014/main" id="{B0D31A03-7CD5-0A1E-B6CE-27CF52D5061F}"/>
              </a:ext>
            </a:extLst>
          </p:cNvPr>
          <p:cNvSpPr>
            <a:spLocks noChangeArrowheads="1"/>
          </p:cNvSpPr>
          <p:nvPr/>
        </p:nvSpPr>
        <p:spPr bwMode="auto">
          <a:xfrm>
            <a:off x="1164502" y="1582341"/>
            <a:ext cx="517404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a:buFont typeface="Wingdings" pitchFamily="2" charset="2"/>
              <a:buChar char="§"/>
            </a:pPr>
            <a:r>
              <a:rPr lang="en-IN" sz="2000" dirty="0"/>
              <a:t>Stores roll number, name, section and marks</a:t>
            </a:r>
          </a:p>
          <a:p>
            <a:pPr marL="342900" lvl="0" indent="-342900">
              <a:buFont typeface="Wingdings" pitchFamily="2" charset="2"/>
              <a:buChar char="§"/>
            </a:pPr>
            <a:r>
              <a:rPr lang="en-IN" sz="2000" dirty="0"/>
              <a:t>Data members are private (encapsulation)</a:t>
            </a:r>
          </a:p>
          <a:p>
            <a:pPr marL="342900" lvl="0" indent="-342900">
              <a:buFont typeface="Wingdings" pitchFamily="2" charset="2"/>
              <a:buChar char="§"/>
            </a:pPr>
            <a:r>
              <a:rPr lang="en-IN" sz="2000" dirty="0"/>
              <a:t>Constructor initialises a new student</a:t>
            </a:r>
          </a:p>
          <a:p>
            <a:pPr marL="342900" lvl="0" indent="-342900">
              <a:buFont typeface="Wingdings" pitchFamily="2" charset="2"/>
              <a:buChar char="§"/>
            </a:pPr>
            <a:r>
              <a:rPr lang="en-IN" sz="2000" dirty="0"/>
              <a:t>Input and display of one student</a:t>
            </a:r>
          </a:p>
          <a:p>
            <a:pPr marL="342900" lvl="0" indent="-342900">
              <a:buFont typeface="Wingdings" pitchFamily="2" charset="2"/>
              <a:buChar char="§"/>
            </a:pPr>
            <a:r>
              <a:rPr lang="en-IN" sz="2000" dirty="0"/>
              <a:t>Average marks of one student</a:t>
            </a:r>
          </a:p>
        </p:txBody>
      </p:sp>
      <p:sp>
        <p:nvSpPr>
          <p:cNvPr id="10" name="Rectangle 2">
            <a:extLst>
              <a:ext uri="{FF2B5EF4-FFF2-40B4-BE49-F238E27FC236}">
                <a16:creationId xmlns:a16="http://schemas.microsoft.com/office/drawing/2014/main" id="{B95FB77D-0BA0-F724-C003-86A9C8FFDEB5}"/>
              </a:ext>
            </a:extLst>
          </p:cNvPr>
          <p:cNvSpPr>
            <a:spLocks noChangeArrowheads="1"/>
          </p:cNvSpPr>
          <p:nvPr/>
        </p:nvSpPr>
        <p:spPr bwMode="auto">
          <a:xfrm>
            <a:off x="1164502" y="3752117"/>
            <a:ext cx="2770310" cy="2215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Functions: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dirty="0"/>
              <a:t>Student()</a:t>
            </a:r>
            <a:r>
              <a:rPr lang="en-IN" sz="2000" dirty="0"/>
              <a:t> (constructor)</a:t>
            </a:r>
          </a:p>
          <a:p>
            <a:pPr marL="285750" lvl="0" indent="-285750">
              <a:buFont typeface="Arial" panose="020B0604020202020204" pitchFamily="34" charset="0"/>
              <a:buChar char="•"/>
            </a:pPr>
            <a:r>
              <a:rPr lang="en-IN" dirty="0"/>
              <a:t>input()</a:t>
            </a:r>
            <a:endParaRPr lang="en-IN" sz="2000" dirty="0"/>
          </a:p>
          <a:p>
            <a:pPr marL="285750" lvl="0" indent="-285750">
              <a:buFont typeface="Arial" panose="020B0604020202020204" pitchFamily="34" charset="0"/>
              <a:buChar char="•"/>
            </a:pPr>
            <a:r>
              <a:rPr lang="en-IN" dirty="0"/>
              <a:t>display()</a:t>
            </a:r>
            <a:endParaRPr lang="en-IN" sz="2000" dirty="0"/>
          </a:p>
          <a:p>
            <a:pPr marL="285750" lvl="0" indent="-285750">
              <a:buFont typeface="Arial" panose="020B0604020202020204" pitchFamily="34" charset="0"/>
              <a:buChar char="•"/>
            </a:pPr>
            <a:r>
              <a:rPr lang="en-IN" dirty="0" err="1"/>
              <a:t>getAverage</a:t>
            </a:r>
            <a:r>
              <a:rPr lang="en-IN" dirty="0"/>
              <a:t>()</a:t>
            </a:r>
            <a:endParaRPr lang="en-IN" sz="2000" dirty="0"/>
          </a:p>
          <a:p>
            <a:pPr marL="285750" lvl="0" indent="-285750">
              <a:buFont typeface="Arial" panose="020B0604020202020204" pitchFamily="34" charset="0"/>
              <a:buChar char="•"/>
            </a:pPr>
            <a:r>
              <a:rPr lang="en-IN" dirty="0" err="1"/>
              <a:t>getRoll</a:t>
            </a:r>
            <a:r>
              <a:rPr lang="en-IN" dirty="0"/>
              <a:t>()</a:t>
            </a:r>
            <a:r>
              <a:rPr lang="en-IN" sz="2000" dirty="0"/>
              <a:t>, </a:t>
            </a:r>
            <a:r>
              <a:rPr lang="en-IN" dirty="0" err="1"/>
              <a:t>getName</a:t>
            </a:r>
            <a:r>
              <a:rPr lang="en-IN" dirty="0"/>
              <a:t>()</a:t>
            </a:r>
            <a:endParaRPr lang="en-IN" sz="20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09534AA3-29C8-0DB0-5567-4E028550F9D9}"/>
              </a:ext>
            </a:extLst>
          </p:cNvPr>
          <p:cNvSpPr txBox="1"/>
          <p:nvPr/>
        </p:nvSpPr>
        <p:spPr>
          <a:xfrm>
            <a:off x="7098283" y="1436123"/>
            <a:ext cx="3938899" cy="461665"/>
          </a:xfrm>
          <a:prstGeom prst="rect">
            <a:avLst/>
          </a:prstGeom>
          <a:noFill/>
        </p:spPr>
        <p:txBody>
          <a:bodyPr wrap="square" rtlCol="0">
            <a:spAutoFit/>
          </a:bodyPr>
          <a:lstStyle/>
          <a:p>
            <a:r>
              <a:rPr lang="en-IN" sz="2400" b="1" dirty="0"/>
              <a:t>2. Student Manager Class</a:t>
            </a:r>
            <a:endParaRPr lang="en-IN" sz="2400" b="1" dirty="0">
              <a:latin typeface="Times New Roman" panose="02020603050405020304" pitchFamily="18" charset="0"/>
              <a:cs typeface="Times New Roman" panose="02020603050405020304" pitchFamily="18" charset="0"/>
            </a:endParaRPr>
          </a:p>
        </p:txBody>
      </p:sp>
      <p:sp>
        <p:nvSpPr>
          <p:cNvPr id="12" name="Rectangle 3">
            <a:extLst>
              <a:ext uri="{FF2B5EF4-FFF2-40B4-BE49-F238E27FC236}">
                <a16:creationId xmlns:a16="http://schemas.microsoft.com/office/drawing/2014/main" id="{3B2D93E7-8BF7-3B8A-0F08-08C69D4466B7}"/>
              </a:ext>
            </a:extLst>
          </p:cNvPr>
          <p:cNvSpPr>
            <a:spLocks noChangeArrowheads="1"/>
          </p:cNvSpPr>
          <p:nvPr/>
        </p:nvSpPr>
        <p:spPr bwMode="auto">
          <a:xfrm>
            <a:off x="7222276" y="1603600"/>
            <a:ext cx="4476418"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a:buFont typeface="Wingdings" pitchFamily="2" charset="2"/>
              <a:buChar char="§"/>
            </a:pPr>
            <a:r>
              <a:rPr lang="en-IN" sz="2000" dirty="0"/>
              <a:t>Holds the array of </a:t>
            </a:r>
            <a:r>
              <a:rPr lang="en-IN" dirty="0"/>
              <a:t>Student</a:t>
            </a:r>
            <a:r>
              <a:rPr lang="en-IN" sz="2000" dirty="0"/>
              <a:t> objects</a:t>
            </a:r>
          </a:p>
          <a:p>
            <a:pPr marL="342900" lvl="0" indent="-342900">
              <a:buFont typeface="Wingdings" pitchFamily="2" charset="2"/>
              <a:buChar char="§"/>
            </a:pPr>
            <a:r>
              <a:rPr lang="en-IN" sz="2000" dirty="0"/>
              <a:t>Keeps a count of students stored</a:t>
            </a:r>
          </a:p>
          <a:p>
            <a:pPr marL="342900" lvl="0" indent="-342900">
              <a:buFont typeface="Wingdings" pitchFamily="2" charset="2"/>
              <a:buChar char="§"/>
            </a:pPr>
            <a:r>
              <a:rPr lang="en-IN" sz="2000" dirty="0"/>
              <a:t>Adds a new student to the array</a:t>
            </a:r>
          </a:p>
          <a:p>
            <a:pPr marL="342900" lvl="0" indent="-342900">
              <a:buFont typeface="Wingdings" pitchFamily="2" charset="2"/>
              <a:buChar char="§"/>
            </a:pPr>
            <a:r>
              <a:rPr lang="en-IN" sz="2000" dirty="0"/>
              <a:t>Displays all students</a:t>
            </a:r>
          </a:p>
          <a:p>
            <a:pPr marL="342900" lvl="0" indent="-342900">
              <a:buFont typeface="Wingdings" pitchFamily="2" charset="2"/>
              <a:buChar char="§"/>
            </a:pPr>
            <a:r>
              <a:rPr lang="en-IN" sz="2000" dirty="0"/>
              <a:t>Prevents adding beyond the array size</a:t>
            </a:r>
          </a:p>
        </p:txBody>
      </p:sp>
      <p:sp>
        <p:nvSpPr>
          <p:cNvPr id="14" name="Rectangle 4">
            <a:extLst>
              <a:ext uri="{FF2B5EF4-FFF2-40B4-BE49-F238E27FC236}">
                <a16:creationId xmlns:a16="http://schemas.microsoft.com/office/drawing/2014/main" id="{0DEA220F-C034-D152-0C9F-A106EDE125A2}"/>
              </a:ext>
            </a:extLst>
          </p:cNvPr>
          <p:cNvSpPr>
            <a:spLocks noChangeArrowheads="1"/>
          </p:cNvSpPr>
          <p:nvPr/>
        </p:nvSpPr>
        <p:spPr bwMode="auto">
          <a:xfrm>
            <a:off x="7025349" y="3906005"/>
            <a:ext cx="1707006"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Functions: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dirty="0" err="1"/>
              <a:t>addStudent</a:t>
            </a:r>
            <a:r>
              <a:rPr lang="en-IN" dirty="0"/>
              <a:t>()</a:t>
            </a:r>
            <a:endParaRPr lang="en-IN" sz="2000" dirty="0"/>
          </a:p>
          <a:p>
            <a:pPr marL="285750" lvl="0" indent="-285750">
              <a:buFont typeface="Arial" panose="020B0604020202020204" pitchFamily="34" charset="0"/>
              <a:buChar char="•"/>
            </a:pPr>
            <a:r>
              <a:rPr lang="en-IN" dirty="0" err="1"/>
              <a:t>displayAll</a:t>
            </a:r>
            <a:r>
              <a:rPr lang="en-IN" dirty="0"/>
              <a:t>()</a:t>
            </a:r>
            <a:endParaRPr lang="en-IN" sz="2000" dirty="0"/>
          </a:p>
          <a:p>
            <a:pPr marL="285750" lvl="0" indent="-285750">
              <a:buFont typeface="Arial" panose="020B0604020202020204" pitchFamily="34" charset="0"/>
              <a:buChar char="•"/>
            </a:pPr>
            <a:r>
              <a:rPr lang="en-IN" dirty="0" err="1"/>
              <a:t>getCount</a:t>
            </a:r>
            <a:r>
              <a:rPr lang="en-IN" dirty="0"/>
              <a:t>()</a:t>
            </a:r>
            <a:endParaRPr lang="en-IN" sz="20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29356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493B02-34DC-4EC1-A810-4EFE496A3CDA}"/>
              </a:ext>
            </a:extLst>
          </p:cNvPr>
          <p:cNvSpPr>
            <a:spLocks noGrp="1"/>
          </p:cNvSpPr>
          <p:nvPr>
            <p:ph/>
          </p:nvPr>
        </p:nvSpPr>
        <p:spPr>
          <a:xfrm>
            <a:off x="511898" y="1440241"/>
            <a:ext cx="10515600" cy="4531419"/>
          </a:xfrm>
        </p:spPr>
        <p:txBody>
          <a:bodyPr>
            <a:normAutofit/>
          </a:bodyPr>
          <a:lstStyle/>
          <a:p>
            <a:r>
              <a:rPr lang="en-IN" b="1" dirty="0"/>
              <a:t>3. Search Module</a:t>
            </a:r>
            <a:endParaRPr lang="en-IN" b="1" dirty="0">
              <a:latin typeface="Times New Roman" panose="02020603050405020304" pitchFamily="18" charset="0"/>
              <a:cs typeface="Times New Roman" panose="02020603050405020304" pitchFamily="18" charset="0"/>
            </a:endParaRPr>
          </a:p>
        </p:txBody>
      </p:sp>
      <p:grpSp>
        <p:nvGrpSpPr>
          <p:cNvPr id="3" name="object 3">
            <a:extLst>
              <a:ext uri="{FF2B5EF4-FFF2-40B4-BE49-F238E27FC236}">
                <a16:creationId xmlns:a16="http://schemas.microsoft.com/office/drawing/2014/main" id="{EDFE7E18-DA31-4D12-9231-3FBCBC2BAE4D}"/>
              </a:ext>
            </a:extLst>
          </p:cNvPr>
          <p:cNvGrpSpPr/>
          <p:nvPr/>
        </p:nvGrpSpPr>
        <p:grpSpPr>
          <a:xfrm>
            <a:off x="3424237" y="165549"/>
            <a:ext cx="5103904" cy="1198311"/>
            <a:chOff x="2648188" y="47148"/>
            <a:chExt cx="5103904" cy="1198311"/>
          </a:xfrm>
        </p:grpSpPr>
        <p:pic>
          <p:nvPicPr>
            <p:cNvPr id="4" name="object 4">
              <a:extLst>
                <a:ext uri="{FF2B5EF4-FFF2-40B4-BE49-F238E27FC236}">
                  <a16:creationId xmlns:a16="http://schemas.microsoft.com/office/drawing/2014/main" id="{85D2436F-F40F-4CDC-9700-82B5422978F8}"/>
                </a:ext>
              </a:extLst>
            </p:cNvPr>
            <p:cNvPicPr/>
            <p:nvPr/>
          </p:nvPicPr>
          <p:blipFill>
            <a:blip r:embed="rId2" cstate="print"/>
            <a:stretch>
              <a:fillRect/>
            </a:stretch>
          </p:blipFill>
          <p:spPr>
            <a:xfrm>
              <a:off x="2648188" y="47148"/>
              <a:ext cx="5103904" cy="1198311"/>
            </a:xfrm>
            <a:prstGeom prst="rect">
              <a:avLst/>
            </a:prstGeom>
          </p:spPr>
        </p:pic>
        <p:pic>
          <p:nvPicPr>
            <p:cNvPr id="5" name="object 5">
              <a:extLst>
                <a:ext uri="{FF2B5EF4-FFF2-40B4-BE49-F238E27FC236}">
                  <a16:creationId xmlns:a16="http://schemas.microsoft.com/office/drawing/2014/main" id="{7CCFC2D5-FB95-4255-8736-DC10F48AFD85}"/>
                </a:ext>
              </a:extLst>
            </p:cNvPr>
            <p:cNvPicPr/>
            <p:nvPr/>
          </p:nvPicPr>
          <p:blipFill>
            <a:blip r:embed="rId3" cstate="print"/>
            <a:stretch>
              <a:fillRect/>
            </a:stretch>
          </p:blipFill>
          <p:spPr>
            <a:xfrm>
              <a:off x="2703195" y="86439"/>
              <a:ext cx="4997767" cy="1092279"/>
            </a:xfrm>
            <a:prstGeom prst="rect">
              <a:avLst/>
            </a:prstGeom>
          </p:spPr>
        </p:pic>
        <p:pic>
          <p:nvPicPr>
            <p:cNvPr id="6" name="object 6">
              <a:extLst>
                <a:ext uri="{FF2B5EF4-FFF2-40B4-BE49-F238E27FC236}">
                  <a16:creationId xmlns:a16="http://schemas.microsoft.com/office/drawing/2014/main" id="{5A955531-A0EB-40C0-8DE5-95F91DF9008B}"/>
                </a:ext>
              </a:extLst>
            </p:cNvPr>
            <p:cNvPicPr/>
            <p:nvPr/>
          </p:nvPicPr>
          <p:blipFill>
            <a:blip r:embed="rId4" cstate="print"/>
            <a:stretch>
              <a:fillRect/>
            </a:stretch>
          </p:blipFill>
          <p:spPr>
            <a:xfrm>
              <a:off x="2828925" y="243549"/>
              <a:ext cx="4585268" cy="522565"/>
            </a:xfrm>
            <a:prstGeom prst="rect">
              <a:avLst/>
            </a:prstGeom>
          </p:spPr>
        </p:pic>
        <p:sp>
          <p:nvSpPr>
            <p:cNvPr id="7" name="object 7">
              <a:extLst>
                <a:ext uri="{FF2B5EF4-FFF2-40B4-BE49-F238E27FC236}">
                  <a16:creationId xmlns:a16="http://schemas.microsoft.com/office/drawing/2014/main" id="{2782FEE7-3351-41D8-B80A-00A31A470AF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8" name="TextBox 7">
            <a:extLst>
              <a:ext uri="{FF2B5EF4-FFF2-40B4-BE49-F238E27FC236}">
                <a16:creationId xmlns:a16="http://schemas.microsoft.com/office/drawing/2014/main" id="{2BDFAEA8-12F3-4746-B312-7203E627D159}"/>
              </a:ext>
            </a:extLst>
          </p:cNvPr>
          <p:cNvSpPr txBox="1"/>
          <p:nvPr/>
        </p:nvSpPr>
        <p:spPr>
          <a:xfrm>
            <a:off x="4193455" y="347962"/>
            <a:ext cx="3408305" cy="523220"/>
          </a:xfrm>
          <a:prstGeom prst="rect">
            <a:avLst/>
          </a:prstGeom>
          <a:noFill/>
        </p:spPr>
        <p:txBody>
          <a:bodyPr wrap="none" rtlCol="0">
            <a:spAutoFit/>
          </a:bodyPr>
          <a:lstStyle/>
          <a:p>
            <a:r>
              <a:rPr lang="en-US" sz="28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Modules &amp;Functions</a:t>
            </a:r>
            <a:endParaRPr lang="en-IN" sz="28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Rectangle 1">
            <a:extLst>
              <a:ext uri="{FF2B5EF4-FFF2-40B4-BE49-F238E27FC236}">
                <a16:creationId xmlns:a16="http://schemas.microsoft.com/office/drawing/2014/main" id="{03184052-069F-4976-B54A-9281D43794F4}"/>
              </a:ext>
            </a:extLst>
          </p:cNvPr>
          <p:cNvSpPr>
            <a:spLocks noChangeArrowheads="1"/>
          </p:cNvSpPr>
          <p:nvPr/>
        </p:nvSpPr>
        <p:spPr bwMode="auto">
          <a:xfrm>
            <a:off x="1164502" y="1736229"/>
            <a:ext cx="4471032"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a:buFont typeface="Wingdings" pitchFamily="2" charset="2"/>
              <a:buChar char="§"/>
            </a:pPr>
            <a:r>
              <a:rPr lang="en-IN" sz="2000" dirty="0"/>
              <a:t>Search by roll number</a:t>
            </a:r>
          </a:p>
          <a:p>
            <a:pPr marL="342900" lvl="0" indent="-342900">
              <a:buFont typeface="Wingdings" pitchFamily="2" charset="2"/>
              <a:buChar char="§"/>
            </a:pPr>
            <a:r>
              <a:rPr lang="en-IN" sz="2000" dirty="0"/>
              <a:t>Search by name (not case-sensitive)</a:t>
            </a:r>
          </a:p>
          <a:p>
            <a:pPr marL="342900" lvl="0" indent="-342900">
              <a:buFont typeface="Wingdings" pitchFamily="2" charset="2"/>
              <a:buChar char="§"/>
            </a:pPr>
            <a:r>
              <a:rPr lang="en-IN" sz="2000" dirty="0"/>
              <a:t>Displays the full record if found</a:t>
            </a:r>
          </a:p>
          <a:p>
            <a:pPr marL="342900" lvl="0" indent="-342900">
              <a:buFont typeface="Wingdings" pitchFamily="2" charset="2"/>
              <a:buChar char="§"/>
            </a:pPr>
            <a:r>
              <a:rPr lang="en-IN" sz="2000" dirty="0"/>
              <a:t>Shows "Student not found" otherwise</a:t>
            </a:r>
          </a:p>
        </p:txBody>
      </p:sp>
      <p:sp>
        <p:nvSpPr>
          <p:cNvPr id="10" name="Rectangle 2">
            <a:extLst>
              <a:ext uri="{FF2B5EF4-FFF2-40B4-BE49-F238E27FC236}">
                <a16:creationId xmlns:a16="http://schemas.microsoft.com/office/drawing/2014/main" id="{1C5EC923-3186-4591-94AC-87DA04F99754}"/>
              </a:ext>
            </a:extLst>
          </p:cNvPr>
          <p:cNvSpPr>
            <a:spLocks noChangeArrowheads="1"/>
          </p:cNvSpPr>
          <p:nvPr/>
        </p:nvSpPr>
        <p:spPr bwMode="auto">
          <a:xfrm>
            <a:off x="1164502" y="4198392"/>
            <a:ext cx="2012859"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Functions: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dirty="0" err="1"/>
              <a:t>searchByRoll</a:t>
            </a:r>
            <a:r>
              <a:rPr lang="en-IN" dirty="0"/>
              <a:t>()</a:t>
            </a:r>
            <a:endParaRPr lang="en-IN" sz="2000" dirty="0"/>
          </a:p>
          <a:p>
            <a:pPr marL="285750" lvl="0" indent="-285750">
              <a:buFont typeface="Arial" panose="020B0604020202020204" pitchFamily="34" charset="0"/>
              <a:buChar char="•"/>
            </a:pPr>
            <a:r>
              <a:rPr lang="en-IN" dirty="0" err="1"/>
              <a:t>searchByName</a:t>
            </a:r>
            <a:r>
              <a:rPr lang="en-IN" dirty="0"/>
              <a:t>()</a:t>
            </a:r>
            <a:endParaRPr lang="en-IN" sz="20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FD4B8AAA-D28C-4D77-AC01-9479AA69C958}"/>
              </a:ext>
            </a:extLst>
          </p:cNvPr>
          <p:cNvSpPr txBox="1"/>
          <p:nvPr/>
        </p:nvSpPr>
        <p:spPr>
          <a:xfrm>
            <a:off x="7098283" y="1436123"/>
            <a:ext cx="3938899" cy="461665"/>
          </a:xfrm>
          <a:prstGeom prst="rect">
            <a:avLst/>
          </a:prstGeom>
          <a:noFill/>
        </p:spPr>
        <p:txBody>
          <a:bodyPr wrap="square" rtlCol="0">
            <a:spAutoFit/>
          </a:bodyPr>
          <a:lstStyle/>
          <a:p>
            <a:r>
              <a:rPr lang="en-IN" sz="2400" b="1" dirty="0"/>
              <a:t>4. Marks Analysis Module</a:t>
            </a:r>
            <a:endParaRPr lang="en-IN" sz="2400" b="1" dirty="0">
              <a:latin typeface="Times New Roman" panose="02020603050405020304" pitchFamily="18" charset="0"/>
              <a:cs typeface="Times New Roman" panose="02020603050405020304" pitchFamily="18" charset="0"/>
            </a:endParaRPr>
          </a:p>
        </p:txBody>
      </p:sp>
      <p:sp>
        <p:nvSpPr>
          <p:cNvPr id="12" name="Rectangle 3">
            <a:extLst>
              <a:ext uri="{FF2B5EF4-FFF2-40B4-BE49-F238E27FC236}">
                <a16:creationId xmlns:a16="http://schemas.microsoft.com/office/drawing/2014/main" id="{3584E425-E2C9-4BD2-BEA3-3E08E42FE052}"/>
              </a:ext>
            </a:extLst>
          </p:cNvPr>
          <p:cNvSpPr>
            <a:spLocks noChangeArrowheads="1"/>
          </p:cNvSpPr>
          <p:nvPr/>
        </p:nvSpPr>
        <p:spPr bwMode="auto">
          <a:xfrm>
            <a:off x="7222276" y="1757488"/>
            <a:ext cx="4713855"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a:buFont typeface="Wingdings" pitchFamily="2" charset="2"/>
              <a:buChar char="§"/>
            </a:pPr>
            <a:r>
              <a:rPr lang="en-IN" sz="2000" dirty="0"/>
              <a:t>Finds the highest marks and the student</a:t>
            </a:r>
          </a:p>
          <a:p>
            <a:pPr marL="342900" lvl="0" indent="-342900">
              <a:buFont typeface="Wingdings" pitchFamily="2" charset="2"/>
              <a:buChar char="§"/>
            </a:pPr>
            <a:r>
              <a:rPr lang="en-IN" sz="2000" dirty="0"/>
              <a:t>Finds the lowest marks and the student</a:t>
            </a:r>
          </a:p>
          <a:p>
            <a:pPr marL="342900" lvl="0" indent="-342900">
              <a:buFont typeface="Wingdings" pitchFamily="2" charset="2"/>
              <a:buChar char="§"/>
            </a:pPr>
            <a:r>
              <a:rPr lang="en-IN" sz="2000" dirty="0"/>
              <a:t>Calculates each student's average</a:t>
            </a:r>
          </a:p>
          <a:p>
            <a:pPr marL="342900" lvl="0" indent="-342900">
              <a:buFont typeface="Wingdings" pitchFamily="2" charset="2"/>
              <a:buChar char="§"/>
            </a:pPr>
            <a:r>
              <a:rPr lang="en-IN" sz="2000" dirty="0"/>
              <a:t>Calculates the class average</a:t>
            </a:r>
          </a:p>
        </p:txBody>
      </p:sp>
      <p:sp>
        <p:nvSpPr>
          <p:cNvPr id="14" name="Rectangle 4">
            <a:extLst>
              <a:ext uri="{FF2B5EF4-FFF2-40B4-BE49-F238E27FC236}">
                <a16:creationId xmlns:a16="http://schemas.microsoft.com/office/drawing/2014/main" id="{5D8F329B-49AE-46BA-BE5C-4AC446E9455E}"/>
              </a:ext>
            </a:extLst>
          </p:cNvPr>
          <p:cNvSpPr>
            <a:spLocks noChangeArrowheads="1"/>
          </p:cNvSpPr>
          <p:nvPr/>
        </p:nvSpPr>
        <p:spPr bwMode="auto">
          <a:xfrm>
            <a:off x="7025349" y="3767505"/>
            <a:ext cx="2199128" cy="187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Functions: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a:buFont typeface="Wingdings" pitchFamily="2" charset="2"/>
              <a:buChar char="§"/>
            </a:pPr>
            <a:r>
              <a:rPr lang="en-IN" dirty="0" err="1"/>
              <a:t>findHighest</a:t>
            </a:r>
            <a:r>
              <a:rPr lang="en-IN" dirty="0"/>
              <a:t>()</a:t>
            </a:r>
            <a:endParaRPr lang="en-IN" sz="2000" dirty="0"/>
          </a:p>
          <a:p>
            <a:pPr marL="285750" lvl="0" indent="-285750">
              <a:buFont typeface="Wingdings" pitchFamily="2" charset="2"/>
              <a:buChar char="§"/>
            </a:pPr>
            <a:r>
              <a:rPr lang="en-IN" dirty="0" err="1"/>
              <a:t>findLowest</a:t>
            </a:r>
            <a:r>
              <a:rPr lang="en-IN" dirty="0"/>
              <a:t>()</a:t>
            </a:r>
            <a:endParaRPr lang="en-IN" sz="2000" dirty="0"/>
          </a:p>
          <a:p>
            <a:pPr marL="285750" lvl="0" indent="-285750">
              <a:buFont typeface="Wingdings" pitchFamily="2" charset="2"/>
              <a:buChar char="§"/>
            </a:pPr>
            <a:r>
              <a:rPr lang="en-IN" dirty="0" err="1"/>
              <a:t>calculateAverage</a:t>
            </a:r>
            <a:r>
              <a:rPr lang="en-IN" dirty="0"/>
              <a:t>()</a:t>
            </a:r>
            <a:endParaRPr lang="en-IN" sz="2000" dirty="0"/>
          </a:p>
          <a:p>
            <a:pPr marL="285750" lvl="0" indent="-285750">
              <a:buFont typeface="Wingdings" pitchFamily="2" charset="2"/>
              <a:buChar char="§"/>
            </a:pPr>
            <a:r>
              <a:rPr lang="en-IN" dirty="0" err="1"/>
              <a:t>classAverage</a:t>
            </a:r>
            <a:r>
              <a:rPr lang="en-IN" dirty="0"/>
              <a:t>()</a:t>
            </a:r>
            <a:endParaRPr lang="en-IN" sz="20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03784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3">
            <a:extLst>
              <a:ext uri="{FF2B5EF4-FFF2-40B4-BE49-F238E27FC236}">
                <a16:creationId xmlns:a16="http://schemas.microsoft.com/office/drawing/2014/main" id="{06714595-FDF4-41BB-BC90-1E6D7CDF334E}"/>
              </a:ext>
            </a:extLst>
          </p:cNvPr>
          <p:cNvGrpSpPr/>
          <p:nvPr/>
        </p:nvGrpSpPr>
        <p:grpSpPr>
          <a:xfrm>
            <a:off x="3424237" y="165549"/>
            <a:ext cx="5103904" cy="1198311"/>
            <a:chOff x="2648188" y="47148"/>
            <a:chExt cx="5103904" cy="1198311"/>
          </a:xfrm>
        </p:grpSpPr>
        <p:pic>
          <p:nvPicPr>
            <p:cNvPr id="3" name="object 4">
              <a:extLst>
                <a:ext uri="{FF2B5EF4-FFF2-40B4-BE49-F238E27FC236}">
                  <a16:creationId xmlns:a16="http://schemas.microsoft.com/office/drawing/2014/main" id="{14FF6B8B-4293-40F5-8DFC-54DF5E00D267}"/>
                </a:ext>
              </a:extLst>
            </p:cNvPr>
            <p:cNvPicPr/>
            <p:nvPr/>
          </p:nvPicPr>
          <p:blipFill>
            <a:blip r:embed="rId2"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1CFC5B14-22AE-4659-AD8C-49729196C910}"/>
                </a:ext>
              </a:extLst>
            </p:cNvPr>
            <p:cNvPicPr/>
            <p:nvPr/>
          </p:nvPicPr>
          <p:blipFill>
            <a:blip r:embed="rId3"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3215EC2B-096E-4BD8-B119-7A183DB79B3E}"/>
                </a:ext>
              </a:extLst>
            </p:cNvPr>
            <p:cNvPicPr/>
            <p:nvPr/>
          </p:nvPicPr>
          <p:blipFill>
            <a:blip r:embed="rId4"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AD77F03D-57CB-4688-8C79-392B325F75A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7" name="TextBox 6">
            <a:extLst>
              <a:ext uri="{FF2B5EF4-FFF2-40B4-BE49-F238E27FC236}">
                <a16:creationId xmlns:a16="http://schemas.microsoft.com/office/drawing/2014/main" id="{6AFD2506-3F53-4D8C-A08C-DD5F2F60DCB1}"/>
              </a:ext>
            </a:extLst>
          </p:cNvPr>
          <p:cNvSpPr txBox="1"/>
          <p:nvPr/>
        </p:nvSpPr>
        <p:spPr>
          <a:xfrm flipH="1">
            <a:off x="4289108" y="347962"/>
            <a:ext cx="4709162" cy="523220"/>
          </a:xfrm>
          <a:prstGeom prst="rect">
            <a:avLst/>
          </a:prstGeom>
          <a:noFill/>
        </p:spPr>
        <p:txBody>
          <a:bodyPr wrap="square" rtlCol="0">
            <a:spAutoFit/>
          </a:bodyPr>
          <a:lstStyle/>
          <a:p>
            <a:r>
              <a:rPr lang="en-US" sz="28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Modules &amp;Functions</a:t>
            </a:r>
            <a:endParaRPr lang="en-IN" sz="28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AA1F20F-974E-4DDF-A0A1-9225D547B084}"/>
              </a:ext>
            </a:extLst>
          </p:cNvPr>
          <p:cNvSpPr txBox="1"/>
          <p:nvPr/>
        </p:nvSpPr>
        <p:spPr>
          <a:xfrm>
            <a:off x="814391" y="1385496"/>
            <a:ext cx="3881437" cy="461665"/>
          </a:xfrm>
          <a:prstGeom prst="rect">
            <a:avLst/>
          </a:prstGeom>
          <a:noFill/>
        </p:spPr>
        <p:txBody>
          <a:bodyPr wrap="square" rtlCol="0">
            <a:spAutoFit/>
          </a:bodyPr>
          <a:lstStyle/>
          <a:p>
            <a:r>
              <a:rPr lang="en-IN" sz="2400" b="1" dirty="0"/>
              <a:t>5. String Handling Module</a:t>
            </a:r>
            <a:endParaRPr lang="en-IN" sz="2400" b="1" dirty="0">
              <a:latin typeface="Times New Roman" panose="02020603050405020304" pitchFamily="18" charset="0"/>
              <a:cs typeface="Times New Roman" panose="02020603050405020304" pitchFamily="18" charset="0"/>
            </a:endParaRPr>
          </a:p>
        </p:txBody>
      </p:sp>
      <p:sp>
        <p:nvSpPr>
          <p:cNvPr id="9" name="Rectangle 1">
            <a:extLst>
              <a:ext uri="{FF2B5EF4-FFF2-40B4-BE49-F238E27FC236}">
                <a16:creationId xmlns:a16="http://schemas.microsoft.com/office/drawing/2014/main" id="{C075BAB1-FCD1-4EF4-B4F0-ED6197858144}"/>
              </a:ext>
            </a:extLst>
          </p:cNvPr>
          <p:cNvSpPr>
            <a:spLocks noChangeArrowheads="1"/>
          </p:cNvSpPr>
          <p:nvPr/>
        </p:nvSpPr>
        <p:spPr bwMode="auto">
          <a:xfrm>
            <a:off x="1071563" y="1786344"/>
            <a:ext cx="4001673"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a:buFont typeface="Wingdings" pitchFamily="2" charset="2"/>
              <a:buChar char="§"/>
            </a:pPr>
            <a:r>
              <a:rPr lang="en-IN" sz="2000" dirty="0"/>
              <a:t>Converts names to upper case</a:t>
            </a:r>
          </a:p>
          <a:p>
            <a:pPr marL="342900" lvl="0" indent="-342900">
              <a:buFont typeface="Wingdings" pitchFamily="2" charset="2"/>
              <a:buChar char="§"/>
            </a:pPr>
            <a:r>
              <a:rPr lang="en-IN" sz="2000" dirty="0"/>
              <a:t>Formats names in a uniform style</a:t>
            </a:r>
          </a:p>
          <a:p>
            <a:pPr marL="342900" lvl="0" indent="-342900">
              <a:buFont typeface="Wingdings" pitchFamily="2" charset="2"/>
              <a:buChar char="§"/>
            </a:pPr>
            <a:r>
              <a:rPr lang="en-IN" sz="2000" dirty="0"/>
              <a:t>Compares names ignoring case</a:t>
            </a:r>
          </a:p>
          <a:p>
            <a:pPr marL="342900" lvl="0" indent="-342900">
              <a:buFont typeface="Wingdings" pitchFamily="2" charset="2"/>
              <a:buChar char="§"/>
            </a:pPr>
            <a:r>
              <a:rPr lang="en-IN" sz="2000" dirty="0"/>
              <a:t>Finds the length of a name</a:t>
            </a:r>
          </a:p>
        </p:txBody>
      </p:sp>
      <p:sp>
        <p:nvSpPr>
          <p:cNvPr id="10" name="Rectangle 2">
            <a:extLst>
              <a:ext uri="{FF2B5EF4-FFF2-40B4-BE49-F238E27FC236}">
                <a16:creationId xmlns:a16="http://schemas.microsoft.com/office/drawing/2014/main" id="{BD000E7E-AB79-4E52-83D0-BE5C3B45EEA2}"/>
              </a:ext>
            </a:extLst>
          </p:cNvPr>
          <p:cNvSpPr>
            <a:spLocks noChangeArrowheads="1"/>
          </p:cNvSpPr>
          <p:nvPr/>
        </p:nvSpPr>
        <p:spPr bwMode="auto">
          <a:xfrm>
            <a:off x="1066404" y="4033851"/>
            <a:ext cx="2090509" cy="187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Functions: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dirty="0" err="1"/>
              <a:t>toUpperCase</a:t>
            </a:r>
            <a:r>
              <a:rPr lang="en-IN" dirty="0"/>
              <a:t>()</a:t>
            </a:r>
            <a:endParaRPr lang="en-IN" sz="2000" dirty="0"/>
          </a:p>
          <a:p>
            <a:pPr marL="285750" lvl="0" indent="-285750">
              <a:buFont typeface="Arial" panose="020B0604020202020204" pitchFamily="34" charset="0"/>
              <a:buChar char="•"/>
            </a:pPr>
            <a:r>
              <a:rPr lang="en-IN" dirty="0" err="1"/>
              <a:t>formatName</a:t>
            </a:r>
            <a:r>
              <a:rPr lang="en-IN" dirty="0"/>
              <a:t>()</a:t>
            </a:r>
            <a:endParaRPr lang="en-IN" sz="2000" dirty="0"/>
          </a:p>
          <a:p>
            <a:pPr marL="285750" lvl="0" indent="-285750">
              <a:buFont typeface="Arial" panose="020B0604020202020204" pitchFamily="34" charset="0"/>
              <a:buChar char="•"/>
            </a:pPr>
            <a:r>
              <a:rPr lang="en-IN" dirty="0" err="1"/>
              <a:t>compareNames</a:t>
            </a:r>
            <a:r>
              <a:rPr lang="en-IN" dirty="0"/>
              <a:t>()</a:t>
            </a:r>
            <a:endParaRPr lang="en-IN" sz="2000" dirty="0"/>
          </a:p>
          <a:p>
            <a:pPr marL="285750" lvl="0" indent="-285750">
              <a:buFont typeface="Arial" panose="020B0604020202020204" pitchFamily="34" charset="0"/>
              <a:buChar char="•"/>
            </a:pPr>
            <a:r>
              <a:rPr lang="en-IN" dirty="0" err="1"/>
              <a:t>nameLength</a:t>
            </a:r>
            <a:r>
              <a:rPr lang="en-IN" dirty="0"/>
              <a:t>()</a:t>
            </a:r>
            <a:endParaRPr lang="en-IN" sz="20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282071A5-504D-479E-867A-845FA809E33D}"/>
              </a:ext>
            </a:extLst>
          </p:cNvPr>
          <p:cNvSpPr txBox="1"/>
          <p:nvPr/>
        </p:nvSpPr>
        <p:spPr>
          <a:xfrm>
            <a:off x="6297148" y="1385496"/>
            <a:ext cx="3786188" cy="461665"/>
          </a:xfrm>
          <a:prstGeom prst="rect">
            <a:avLst/>
          </a:prstGeom>
          <a:noFill/>
        </p:spPr>
        <p:txBody>
          <a:bodyPr wrap="square" rtlCol="0">
            <a:spAutoFit/>
          </a:bodyPr>
          <a:lstStyle/>
          <a:p>
            <a:r>
              <a:rPr lang="en-IN" sz="2400" b="1" dirty="0"/>
              <a:t>6. Menu Module</a:t>
            </a:r>
            <a:endParaRPr lang="en-IN" sz="2400" b="1" dirty="0">
              <a:latin typeface="Times New Roman" panose="02020603050405020304" pitchFamily="18" charset="0"/>
              <a:cs typeface="Times New Roman" panose="02020603050405020304" pitchFamily="18" charset="0"/>
            </a:endParaRPr>
          </a:p>
        </p:txBody>
      </p:sp>
      <p:sp>
        <p:nvSpPr>
          <p:cNvPr id="14" name="Rectangle 3">
            <a:extLst>
              <a:ext uri="{FF2B5EF4-FFF2-40B4-BE49-F238E27FC236}">
                <a16:creationId xmlns:a16="http://schemas.microsoft.com/office/drawing/2014/main" id="{A51C9A8A-0E0F-4E5D-A216-E319B5EE52FA}"/>
              </a:ext>
            </a:extLst>
          </p:cNvPr>
          <p:cNvSpPr>
            <a:spLocks noChangeArrowheads="1"/>
          </p:cNvSpPr>
          <p:nvPr/>
        </p:nvSpPr>
        <p:spPr bwMode="auto">
          <a:xfrm>
            <a:off x="6617323" y="1879416"/>
            <a:ext cx="3372333"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a:buFont typeface="Wingdings" pitchFamily="2" charset="2"/>
              <a:buChar char="§"/>
            </a:pPr>
            <a:r>
              <a:rPr lang="en-IN" sz="2000" dirty="0"/>
              <a:t>Displays the list of options</a:t>
            </a:r>
          </a:p>
          <a:p>
            <a:pPr marL="342900" lvl="0" indent="-342900">
              <a:buFont typeface="Wingdings" pitchFamily="2" charset="2"/>
              <a:buChar char="§"/>
            </a:pPr>
            <a:r>
              <a:rPr lang="en-IN" sz="2000" dirty="0"/>
              <a:t>Reads the user's choice</a:t>
            </a:r>
          </a:p>
          <a:p>
            <a:pPr marL="342900" lvl="0" indent="-342900">
              <a:buFont typeface="Wingdings" pitchFamily="2" charset="2"/>
              <a:buChar char="§"/>
            </a:pPr>
            <a:r>
              <a:rPr lang="en-IN" sz="2000" dirty="0"/>
              <a:t>Calls the matching function</a:t>
            </a:r>
          </a:p>
          <a:p>
            <a:pPr marL="342900" lvl="0" indent="-342900">
              <a:buFont typeface="Wingdings" pitchFamily="2" charset="2"/>
              <a:buChar char="§"/>
            </a:pPr>
            <a:r>
              <a:rPr lang="en-IN" sz="2000" dirty="0"/>
              <a:t>Repeats until the user exits</a:t>
            </a:r>
          </a:p>
        </p:txBody>
      </p:sp>
      <p:sp>
        <p:nvSpPr>
          <p:cNvPr id="16" name="Rectangle 4">
            <a:extLst>
              <a:ext uri="{FF2B5EF4-FFF2-40B4-BE49-F238E27FC236}">
                <a16:creationId xmlns:a16="http://schemas.microsoft.com/office/drawing/2014/main" id="{F30CC2A1-4DBB-4CB3-9B1E-856107B01231}"/>
              </a:ext>
            </a:extLst>
          </p:cNvPr>
          <p:cNvSpPr>
            <a:spLocks noChangeArrowheads="1"/>
          </p:cNvSpPr>
          <p:nvPr/>
        </p:nvSpPr>
        <p:spPr bwMode="auto">
          <a:xfrm>
            <a:off x="6617323" y="4033851"/>
            <a:ext cx="1668149"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Functions: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dirty="0" err="1"/>
              <a:t>showMenu</a:t>
            </a:r>
            <a:r>
              <a:rPr lang="en-IN" dirty="0"/>
              <a:t>()</a:t>
            </a:r>
            <a:endParaRPr lang="en-IN" sz="2000" dirty="0"/>
          </a:p>
          <a:p>
            <a:pPr marL="285750" lvl="0" indent="-285750">
              <a:buFont typeface="Arial" panose="020B0604020202020204" pitchFamily="34" charset="0"/>
              <a:buChar char="•"/>
            </a:pPr>
            <a:r>
              <a:rPr lang="en-IN" dirty="0"/>
              <a:t>main()</a:t>
            </a:r>
            <a:endParaRPr lang="en-IN" sz="20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05755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3">
            <a:extLst>
              <a:ext uri="{FF2B5EF4-FFF2-40B4-BE49-F238E27FC236}">
                <a16:creationId xmlns:a16="http://schemas.microsoft.com/office/drawing/2014/main" id="{3DB1C055-A200-4C18-8C10-4F05F61A433E}"/>
              </a:ext>
            </a:extLst>
          </p:cNvPr>
          <p:cNvGrpSpPr/>
          <p:nvPr/>
        </p:nvGrpSpPr>
        <p:grpSpPr>
          <a:xfrm>
            <a:off x="3424237" y="165549"/>
            <a:ext cx="5103904" cy="1198311"/>
            <a:chOff x="2648188" y="47148"/>
            <a:chExt cx="5103904" cy="1198311"/>
          </a:xfrm>
        </p:grpSpPr>
        <p:pic>
          <p:nvPicPr>
            <p:cNvPr id="3" name="object 4">
              <a:extLst>
                <a:ext uri="{FF2B5EF4-FFF2-40B4-BE49-F238E27FC236}">
                  <a16:creationId xmlns:a16="http://schemas.microsoft.com/office/drawing/2014/main" id="{173AED96-9A58-433D-9C1A-E0CCB06C45AF}"/>
                </a:ext>
              </a:extLst>
            </p:cNvPr>
            <p:cNvPicPr/>
            <p:nvPr/>
          </p:nvPicPr>
          <p:blipFill>
            <a:blip r:embed="rId2"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D241B59C-A61C-40C1-9C9D-65EA9DB33D1E}"/>
                </a:ext>
              </a:extLst>
            </p:cNvPr>
            <p:cNvPicPr/>
            <p:nvPr/>
          </p:nvPicPr>
          <p:blipFill>
            <a:blip r:embed="rId3"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7E3F0289-9A1E-41C6-9133-B2CE1163A1C1}"/>
                </a:ext>
              </a:extLst>
            </p:cNvPr>
            <p:cNvPicPr/>
            <p:nvPr/>
          </p:nvPicPr>
          <p:blipFill>
            <a:blip r:embed="rId4"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F4913A11-6ABD-49BF-80D6-02148CA5CE0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7" name="TextBox 6">
            <a:extLst>
              <a:ext uri="{FF2B5EF4-FFF2-40B4-BE49-F238E27FC236}">
                <a16:creationId xmlns:a16="http://schemas.microsoft.com/office/drawing/2014/main" id="{EB8E2C62-25EB-458B-B73D-3B295F8465F6}"/>
              </a:ext>
            </a:extLst>
          </p:cNvPr>
          <p:cNvSpPr txBox="1"/>
          <p:nvPr/>
        </p:nvSpPr>
        <p:spPr>
          <a:xfrm>
            <a:off x="4577375" y="307230"/>
            <a:ext cx="2640466" cy="523220"/>
          </a:xfrm>
          <a:prstGeom prst="rect">
            <a:avLst/>
          </a:prstGeom>
          <a:noFill/>
        </p:spPr>
        <p:txBody>
          <a:bodyPr wrap="none" rtlCol="0">
            <a:spAutoFit/>
          </a:bodyPr>
          <a:lstStyle/>
          <a:p>
            <a:r>
              <a:rPr lang="en-US" sz="28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Implementation</a:t>
            </a:r>
            <a:endParaRPr lang="en-IN" sz="28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Rectangle 1">
            <a:extLst>
              <a:ext uri="{FF2B5EF4-FFF2-40B4-BE49-F238E27FC236}">
                <a16:creationId xmlns:a16="http://schemas.microsoft.com/office/drawing/2014/main" id="{BA1E3A9A-53E2-4854-9F15-EB72662778FF}"/>
              </a:ext>
            </a:extLst>
          </p:cNvPr>
          <p:cNvSpPr>
            <a:spLocks noChangeArrowheads="1"/>
          </p:cNvSpPr>
          <p:nvPr/>
        </p:nvSpPr>
        <p:spPr bwMode="auto">
          <a:xfrm>
            <a:off x="619827" y="1184639"/>
            <a:ext cx="7421904"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buFontTx/>
              <a:buNone/>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a:buFont typeface="Wingdings" pitchFamily="2" charset="2"/>
              <a:buChar char="§"/>
            </a:pPr>
            <a:r>
              <a:rPr lang="en-IN" sz="2000" dirty="0"/>
              <a:t>Developed using C++ and Object-Oriented Programming concepts.</a:t>
            </a:r>
          </a:p>
          <a:p>
            <a:pPr marL="342900" lvl="0" indent="-342900">
              <a:buFont typeface="Wingdings" pitchFamily="2" charset="2"/>
              <a:buChar char="§"/>
            </a:pPr>
            <a:r>
              <a:rPr lang="en-IN" sz="2000" dirty="0"/>
              <a:t>Created the </a:t>
            </a:r>
            <a:r>
              <a:rPr lang="en-IN" dirty="0"/>
              <a:t>Student</a:t>
            </a:r>
            <a:r>
              <a:rPr lang="en-IN" sz="2000" dirty="0"/>
              <a:t> class with private data members and public </a:t>
            </a:r>
          </a:p>
          <a:p>
            <a:pPr lvl="0"/>
            <a:r>
              <a:rPr lang="en-IN" sz="2000" dirty="0"/>
              <a:t>       member functions.</a:t>
            </a:r>
          </a:p>
          <a:p>
            <a:pPr marL="342900" lvl="0" indent="-342900">
              <a:buFont typeface="Wingdings" pitchFamily="2" charset="2"/>
              <a:buChar char="§"/>
            </a:pPr>
            <a:r>
              <a:rPr lang="en-IN" sz="2000" dirty="0"/>
              <a:t>Used constructors to initialise student objects.</a:t>
            </a:r>
          </a:p>
          <a:p>
            <a:pPr marL="342900" lvl="0" indent="-342900">
              <a:buFont typeface="Wingdings" pitchFamily="2" charset="2"/>
              <a:buChar char="§"/>
            </a:pPr>
            <a:r>
              <a:rPr lang="en-IN" sz="2000" dirty="0"/>
              <a:t>Created the </a:t>
            </a:r>
            <a:r>
              <a:rPr lang="en-IN" dirty="0" err="1"/>
              <a:t>StudentManager</a:t>
            </a:r>
            <a:r>
              <a:rPr lang="en-IN" sz="2000" dirty="0"/>
              <a:t> class to store student objects in an</a:t>
            </a:r>
          </a:p>
          <a:p>
            <a:pPr lvl="0"/>
            <a:r>
              <a:rPr lang="en-IN" sz="2000" dirty="0"/>
              <a:t>      array.</a:t>
            </a:r>
          </a:p>
          <a:p>
            <a:pPr marL="342900" lvl="0" indent="-342900">
              <a:buFont typeface="Wingdings" pitchFamily="2" charset="2"/>
              <a:buChar char="§"/>
            </a:pPr>
            <a:r>
              <a:rPr lang="en-IN" sz="2000" dirty="0"/>
              <a:t>Implemented adding and displaying student records.</a:t>
            </a:r>
          </a:p>
          <a:p>
            <a:pPr marL="342900" lvl="0" indent="-342900">
              <a:buFont typeface="Wingdings" pitchFamily="2" charset="2"/>
              <a:buChar char="§"/>
            </a:pPr>
            <a:r>
              <a:rPr lang="en-IN" sz="2000" dirty="0"/>
              <a:t>Implemented search by roll number and by name.</a:t>
            </a:r>
          </a:p>
          <a:p>
            <a:pPr marL="342900" lvl="0" indent="-342900">
              <a:buFont typeface="Wingdings" pitchFamily="2" charset="2"/>
              <a:buChar char="§"/>
            </a:pPr>
            <a:r>
              <a:rPr lang="en-IN" sz="2000" dirty="0"/>
              <a:t>Implemented highest, lowest and average marks calculation.</a:t>
            </a:r>
          </a:p>
          <a:p>
            <a:pPr marL="342900" lvl="0" indent="-342900">
              <a:buFont typeface="Wingdings" pitchFamily="2" charset="2"/>
              <a:buChar char="§"/>
            </a:pPr>
            <a:r>
              <a:rPr lang="en-IN" sz="2000" dirty="0"/>
              <a:t>Implemented string handling operations on student names.</a:t>
            </a:r>
          </a:p>
          <a:p>
            <a:pPr marL="342900" lvl="0" indent="-342900">
              <a:buFont typeface="Wingdings" pitchFamily="2" charset="2"/>
              <a:buChar char="§"/>
            </a:pPr>
            <a:r>
              <a:rPr lang="en-IN" sz="2000" dirty="0"/>
              <a:t>Added input validation for roll numbers and marks.</a:t>
            </a:r>
          </a:p>
          <a:p>
            <a:pPr marL="342900" lvl="0" indent="-342900">
              <a:buFont typeface="Wingdings" pitchFamily="2" charset="2"/>
              <a:buChar char="§"/>
            </a:pPr>
            <a:r>
              <a:rPr lang="en-IN" sz="2000" dirty="0"/>
              <a:t>Integrated all modules through a menu-driven </a:t>
            </a:r>
            <a:r>
              <a:rPr lang="en-IN" dirty="0"/>
              <a:t>main()</a:t>
            </a:r>
            <a:r>
              <a:rPr lang="en-IN" sz="2000" dirty="0"/>
              <a:t> function.</a:t>
            </a:r>
          </a:p>
          <a:p>
            <a:pPr marL="342900" lvl="0" indent="-342900">
              <a:buFont typeface="Wingdings" pitchFamily="2" charset="2"/>
              <a:buChar char="§"/>
            </a:pPr>
            <a:r>
              <a:rPr lang="en-IN" sz="2000" dirty="0"/>
              <a:t>Tested the program using sample student records.</a:t>
            </a:r>
          </a:p>
          <a:p>
            <a:pPr marL="0" marR="0" lvl="0" indent="0" algn="l" defTabSz="914400" rtl="0" eaLnBrk="0" fontAlgn="base" latinLnBrk="0" hangingPunct="0">
              <a:spcBef>
                <a:spcPct val="0"/>
              </a:spcBef>
              <a:spcAft>
                <a:spcPct val="0"/>
              </a:spcAft>
              <a:buClrTx/>
              <a:buSzTx/>
              <a:buFontTx/>
              <a:buChar char="•"/>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43E64A2A-EC20-A41A-3548-DBC65E7DFBF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85100" y="1964778"/>
            <a:ext cx="4406900" cy="2781300"/>
          </a:xfrm>
          <a:prstGeom prst="rect">
            <a:avLst/>
          </a:prstGeom>
        </p:spPr>
      </p:pic>
    </p:spTree>
    <p:extLst>
      <p:ext uri="{BB962C8B-B14F-4D97-AF65-F5344CB8AC3E}">
        <p14:creationId xmlns:p14="http://schemas.microsoft.com/office/powerpoint/2010/main" val="2651373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3">
            <a:extLst>
              <a:ext uri="{FF2B5EF4-FFF2-40B4-BE49-F238E27FC236}">
                <a16:creationId xmlns:a16="http://schemas.microsoft.com/office/drawing/2014/main" id="{243DE404-63B0-424A-B584-3F669275D32F}"/>
              </a:ext>
            </a:extLst>
          </p:cNvPr>
          <p:cNvGrpSpPr/>
          <p:nvPr/>
        </p:nvGrpSpPr>
        <p:grpSpPr>
          <a:xfrm>
            <a:off x="3424237" y="165549"/>
            <a:ext cx="5103904" cy="1198311"/>
            <a:chOff x="2648188" y="47148"/>
            <a:chExt cx="5103904" cy="1198311"/>
          </a:xfrm>
        </p:grpSpPr>
        <p:pic>
          <p:nvPicPr>
            <p:cNvPr id="3" name="object 4">
              <a:extLst>
                <a:ext uri="{FF2B5EF4-FFF2-40B4-BE49-F238E27FC236}">
                  <a16:creationId xmlns:a16="http://schemas.microsoft.com/office/drawing/2014/main" id="{0639266B-0B9B-4431-AE23-9750FA3A55EE}"/>
                </a:ext>
              </a:extLst>
            </p:cNvPr>
            <p:cNvPicPr/>
            <p:nvPr/>
          </p:nvPicPr>
          <p:blipFill>
            <a:blip r:embed="rId2"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B6C657D8-7496-40EC-A1B5-FC97C5648FBB}"/>
                </a:ext>
              </a:extLst>
            </p:cNvPr>
            <p:cNvPicPr/>
            <p:nvPr/>
          </p:nvPicPr>
          <p:blipFill>
            <a:blip r:embed="rId3"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0FE6523C-43CF-40F0-B5C3-9CFB45724E28}"/>
                </a:ext>
              </a:extLst>
            </p:cNvPr>
            <p:cNvPicPr/>
            <p:nvPr/>
          </p:nvPicPr>
          <p:blipFill>
            <a:blip r:embed="rId4"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A2F945C7-4A09-4F45-BA36-C3DFB8139FA5}"/>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7" name="TextBox 6">
            <a:extLst>
              <a:ext uri="{FF2B5EF4-FFF2-40B4-BE49-F238E27FC236}">
                <a16:creationId xmlns:a16="http://schemas.microsoft.com/office/drawing/2014/main" id="{B440B2A0-E935-476E-BD1C-FC1B626759B6}"/>
              </a:ext>
            </a:extLst>
          </p:cNvPr>
          <p:cNvSpPr txBox="1"/>
          <p:nvPr/>
        </p:nvSpPr>
        <p:spPr>
          <a:xfrm>
            <a:off x="4371422" y="361295"/>
            <a:ext cx="3209533" cy="523220"/>
          </a:xfrm>
          <a:prstGeom prst="rect">
            <a:avLst/>
          </a:prstGeom>
          <a:noFill/>
        </p:spPr>
        <p:txBody>
          <a:bodyPr wrap="none" rtlCol="0">
            <a:spAutoFit/>
          </a:bodyPr>
          <a:lstStyle/>
          <a:p>
            <a:r>
              <a:rPr lang="en-US" sz="28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 Concepts Used</a:t>
            </a:r>
            <a:endParaRPr lang="en-IN" sz="28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42439D95-2321-4F8D-906F-BA166AAEA879}"/>
              </a:ext>
            </a:extLst>
          </p:cNvPr>
          <p:cNvSpPr txBox="1"/>
          <p:nvPr/>
        </p:nvSpPr>
        <p:spPr>
          <a:xfrm>
            <a:off x="1053022" y="1304084"/>
            <a:ext cx="5103904" cy="4154984"/>
          </a:xfrm>
          <a:prstGeom prst="rect">
            <a:avLst/>
          </a:prstGeom>
          <a:noFill/>
        </p:spPr>
        <p:txBody>
          <a:bodyPr wrap="square" rtlCol="0">
            <a:spAutoFit/>
          </a:bodyPr>
          <a:lstStyle/>
          <a:p>
            <a:pPr lvl="0" eaLnBrk="0" fontAlgn="base" hangingPunct="0">
              <a:spcBef>
                <a:spcPct val="0"/>
              </a:spcBef>
              <a:spcAft>
                <a:spcPct val="0"/>
              </a:spcAft>
            </a:pPr>
            <a:r>
              <a:rPr lang="en-US" altLang="en-US" sz="2400" b="1" dirty="0">
                <a:latin typeface="Times New Roman" panose="02020603050405020304" pitchFamily="18" charset="0"/>
                <a:cs typeface="Times New Roman" panose="02020603050405020304" pitchFamily="18" charset="0"/>
              </a:rPr>
              <a:t>Object-Oriented Programming</a:t>
            </a:r>
          </a:p>
          <a:p>
            <a:pPr lvl="0" eaLnBrk="0" fontAlgn="base" hangingPunct="0">
              <a:spcBef>
                <a:spcPct val="0"/>
              </a:spcBef>
              <a:spcAft>
                <a:spcPct val="0"/>
              </a:spcAft>
            </a:pPr>
            <a:endParaRPr lang="en-US" altLang="en-US" sz="2400" b="1" dirty="0">
              <a:latin typeface="Times New Roman" panose="02020603050405020304" pitchFamily="18" charset="0"/>
              <a:cs typeface="Times New Roman" panose="02020603050405020304" pitchFamily="18" charset="0"/>
            </a:endParaRPr>
          </a:p>
          <a:p>
            <a:pPr marL="342900" lvl="0" indent="-342900">
              <a:buFont typeface="Wingdings" pitchFamily="2" charset="2"/>
              <a:buChar char="§"/>
            </a:pPr>
            <a:r>
              <a:rPr lang="en-IN" sz="2400" dirty="0"/>
              <a:t>Classes and Objects</a:t>
            </a:r>
          </a:p>
          <a:p>
            <a:pPr marL="342900" lvl="0" indent="-342900">
              <a:buFont typeface="Wingdings" pitchFamily="2" charset="2"/>
              <a:buChar char="§"/>
            </a:pPr>
            <a:r>
              <a:rPr lang="en-IN" sz="2400" dirty="0"/>
              <a:t>Encapsulation</a:t>
            </a:r>
          </a:p>
          <a:p>
            <a:pPr marL="342900" lvl="0" indent="-342900">
              <a:buFont typeface="Wingdings" pitchFamily="2" charset="2"/>
              <a:buChar char="§"/>
            </a:pPr>
            <a:r>
              <a:rPr lang="en-IN" sz="2400" dirty="0"/>
              <a:t>Constructors</a:t>
            </a:r>
          </a:p>
          <a:p>
            <a:pPr marL="342900" lvl="0" indent="-342900">
              <a:buFont typeface="Wingdings" pitchFamily="2" charset="2"/>
              <a:buChar char="§"/>
            </a:pPr>
            <a:r>
              <a:rPr lang="en-IN" sz="2400" dirty="0"/>
              <a:t>Member Functions</a:t>
            </a:r>
          </a:p>
          <a:p>
            <a:pPr marL="342900" lvl="0" indent="-342900">
              <a:buFont typeface="Wingdings" pitchFamily="2" charset="2"/>
              <a:buChar char="§"/>
            </a:pPr>
            <a:r>
              <a:rPr lang="en-IN" sz="2400" dirty="0"/>
              <a:t>Access Specifiers (private/public)</a:t>
            </a:r>
          </a:p>
          <a:p>
            <a:pPr marL="342900" lvl="0" indent="-342900">
              <a:buFont typeface="Wingdings" pitchFamily="2" charset="2"/>
              <a:buChar char="§"/>
            </a:pPr>
            <a:r>
              <a:rPr lang="en-IN" sz="2400" dirty="0"/>
              <a:t>Array of Objects</a:t>
            </a:r>
          </a:p>
          <a:p>
            <a:pPr lvl="0" eaLnBrk="0" fontAlgn="base" hangingPunct="0">
              <a:spcBef>
                <a:spcPct val="0"/>
              </a:spcBef>
              <a:spcAft>
                <a:spcPct val="0"/>
              </a:spcAft>
            </a:pPr>
            <a:endParaRPr lang="en-US" altLang="en-US" sz="2400" b="1"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endParaRPr lang="en-US" alt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77EFA29-AC99-4A26-8D03-CB11CAC8E046}"/>
              </a:ext>
            </a:extLst>
          </p:cNvPr>
          <p:cNvSpPr txBox="1"/>
          <p:nvPr/>
        </p:nvSpPr>
        <p:spPr>
          <a:xfrm>
            <a:off x="6594378" y="1297119"/>
            <a:ext cx="4778183" cy="4524315"/>
          </a:xfrm>
          <a:prstGeom prst="rect">
            <a:avLst/>
          </a:prstGeom>
          <a:noFill/>
        </p:spPr>
        <p:txBody>
          <a:bodyPr wrap="square" rtlCol="0">
            <a:spAutoFit/>
          </a:bodyPr>
          <a:lstStyle/>
          <a:p>
            <a:pPr lvl="0" eaLnBrk="0" fontAlgn="base" hangingPunct="0">
              <a:spcBef>
                <a:spcPct val="0"/>
              </a:spcBef>
              <a:spcAft>
                <a:spcPct val="0"/>
              </a:spcAft>
            </a:pPr>
            <a:r>
              <a:rPr lang="en-US" altLang="en-US" sz="2400" b="1" dirty="0">
                <a:latin typeface="Times New Roman" panose="02020603050405020304" pitchFamily="18" charset="0"/>
                <a:cs typeface="Times New Roman" panose="02020603050405020304" pitchFamily="18" charset="0"/>
              </a:rPr>
              <a:t>Other C++ Concepts</a:t>
            </a:r>
          </a:p>
          <a:p>
            <a:pPr lvl="0" eaLnBrk="0" fontAlgn="base" hangingPunct="0">
              <a:spcBef>
                <a:spcPct val="0"/>
              </a:spcBef>
              <a:spcAft>
                <a:spcPct val="0"/>
              </a:spcAft>
            </a:pPr>
            <a:endParaRPr lang="en-US" altLang="en-US" sz="2400" b="1" dirty="0">
              <a:latin typeface="Times New Roman" panose="02020603050405020304" pitchFamily="18" charset="0"/>
              <a:cs typeface="Times New Roman" panose="02020603050405020304" pitchFamily="18" charset="0"/>
            </a:endParaRPr>
          </a:p>
          <a:p>
            <a:pPr marL="342900" lvl="0" indent="-342900">
              <a:buFont typeface="Wingdings" pitchFamily="2" charset="2"/>
              <a:buChar char="§"/>
            </a:pPr>
            <a:r>
              <a:rPr lang="en-IN" sz="2400" dirty="0"/>
              <a:t>Arrays</a:t>
            </a:r>
          </a:p>
          <a:p>
            <a:pPr marL="342900" lvl="0" indent="-342900">
              <a:buFont typeface="Wingdings" pitchFamily="2" charset="2"/>
              <a:buChar char="§"/>
            </a:pPr>
            <a:r>
              <a:rPr lang="en-IN" sz="2400" dirty="0"/>
              <a:t>Strings</a:t>
            </a:r>
          </a:p>
          <a:p>
            <a:pPr marL="342900" lvl="0" indent="-342900">
              <a:buFont typeface="Wingdings" pitchFamily="2" charset="2"/>
              <a:buChar char="§"/>
            </a:pPr>
            <a:r>
              <a:rPr lang="en-IN" sz="2400" dirty="0"/>
              <a:t>Functions</a:t>
            </a:r>
          </a:p>
          <a:p>
            <a:pPr marL="342900" lvl="0" indent="-342900">
              <a:buFont typeface="Wingdings" pitchFamily="2" charset="2"/>
              <a:buChar char="§"/>
            </a:pPr>
            <a:r>
              <a:rPr lang="en-IN" sz="2400" dirty="0"/>
              <a:t>Loops</a:t>
            </a:r>
          </a:p>
          <a:p>
            <a:pPr marL="342900" lvl="0" indent="-342900">
              <a:buFont typeface="Wingdings" pitchFamily="2" charset="2"/>
              <a:buChar char="§"/>
            </a:pPr>
            <a:r>
              <a:rPr lang="en-IN" sz="2400" dirty="0"/>
              <a:t>Conditional statements (</a:t>
            </a:r>
            <a:r>
              <a:rPr lang="en-IN" dirty="0"/>
              <a:t>if</a:t>
            </a:r>
            <a:r>
              <a:rPr lang="en-IN" sz="2400" dirty="0"/>
              <a:t>, </a:t>
            </a:r>
            <a:r>
              <a:rPr lang="en-IN" dirty="0"/>
              <a:t>switch</a:t>
            </a:r>
            <a:r>
              <a:rPr lang="en-IN" sz="2400" dirty="0"/>
              <a:t>)</a:t>
            </a:r>
          </a:p>
          <a:p>
            <a:pPr marL="342900" lvl="0" indent="-342900">
              <a:buFont typeface="Wingdings" pitchFamily="2" charset="2"/>
              <a:buChar char="§"/>
            </a:pPr>
            <a:r>
              <a:rPr lang="en-IN" sz="2400" dirty="0"/>
              <a:t>Input Validation</a:t>
            </a:r>
          </a:p>
          <a:p>
            <a:pPr marL="342900" lvl="0" indent="-342900">
              <a:buFont typeface="Wingdings" pitchFamily="2" charset="2"/>
              <a:buChar char="§"/>
            </a:pPr>
            <a:r>
              <a:rPr lang="en-IN" sz="2400" dirty="0"/>
              <a:t>Header files (</a:t>
            </a:r>
            <a:r>
              <a:rPr lang="en-IN" dirty="0"/>
              <a:t>&lt;iostream&gt;</a:t>
            </a:r>
            <a:r>
              <a:rPr lang="en-IN" sz="2400" dirty="0"/>
              <a:t>, </a:t>
            </a:r>
            <a:r>
              <a:rPr lang="en-IN" dirty="0"/>
              <a:t>&lt;string&gt;</a:t>
            </a:r>
            <a:r>
              <a:rPr lang="en-IN" sz="2400" dirty="0"/>
              <a:t>, </a:t>
            </a:r>
            <a:r>
              <a:rPr lang="en-IN" dirty="0"/>
              <a:t>&lt;</a:t>
            </a:r>
            <a:r>
              <a:rPr lang="en-IN" dirty="0" err="1"/>
              <a:t>iomanip</a:t>
            </a:r>
            <a:r>
              <a:rPr lang="en-IN" dirty="0"/>
              <a:t>&gt;</a:t>
            </a:r>
            <a:r>
              <a:rPr lang="en-IN" sz="2400" dirty="0"/>
              <a:t>)</a:t>
            </a:r>
          </a:p>
          <a:p>
            <a:pPr marL="342900" indent="-342900">
              <a:buFont typeface="Wingdings" pitchFamily="2" charset="2"/>
              <a:buChar char="§"/>
            </a:pP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54303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3">
            <a:extLst>
              <a:ext uri="{FF2B5EF4-FFF2-40B4-BE49-F238E27FC236}">
                <a16:creationId xmlns:a16="http://schemas.microsoft.com/office/drawing/2014/main" id="{48588830-7987-45F5-B0C4-E6A3D2E32F49}"/>
              </a:ext>
            </a:extLst>
          </p:cNvPr>
          <p:cNvGrpSpPr/>
          <p:nvPr/>
        </p:nvGrpSpPr>
        <p:grpSpPr>
          <a:xfrm>
            <a:off x="3424237" y="165549"/>
            <a:ext cx="5103904" cy="1198311"/>
            <a:chOff x="2648188" y="47148"/>
            <a:chExt cx="5103904" cy="1198311"/>
          </a:xfrm>
        </p:grpSpPr>
        <p:pic>
          <p:nvPicPr>
            <p:cNvPr id="3" name="object 4">
              <a:extLst>
                <a:ext uri="{FF2B5EF4-FFF2-40B4-BE49-F238E27FC236}">
                  <a16:creationId xmlns:a16="http://schemas.microsoft.com/office/drawing/2014/main" id="{9F126417-BFF7-4887-A218-7907045C7918}"/>
                </a:ext>
              </a:extLst>
            </p:cNvPr>
            <p:cNvPicPr/>
            <p:nvPr/>
          </p:nvPicPr>
          <p:blipFill>
            <a:blip r:embed="rId2"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F1D560F7-04C9-4535-BBDD-F44887D185E9}"/>
                </a:ext>
              </a:extLst>
            </p:cNvPr>
            <p:cNvPicPr/>
            <p:nvPr/>
          </p:nvPicPr>
          <p:blipFill>
            <a:blip r:embed="rId3"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B67BF079-B876-42FF-ACE5-C4C640766A67}"/>
                </a:ext>
              </a:extLst>
            </p:cNvPr>
            <p:cNvPicPr/>
            <p:nvPr/>
          </p:nvPicPr>
          <p:blipFill>
            <a:blip r:embed="rId4"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EF42AE2A-A4F9-412A-B928-D832962008AA}"/>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7" name="TextBox 6">
            <a:extLst>
              <a:ext uri="{FF2B5EF4-FFF2-40B4-BE49-F238E27FC236}">
                <a16:creationId xmlns:a16="http://schemas.microsoft.com/office/drawing/2014/main" id="{F9C25DED-7443-493B-B488-40C7049FABF5}"/>
              </a:ext>
            </a:extLst>
          </p:cNvPr>
          <p:cNvSpPr txBox="1"/>
          <p:nvPr/>
        </p:nvSpPr>
        <p:spPr>
          <a:xfrm>
            <a:off x="5305138" y="347962"/>
            <a:ext cx="1184940" cy="523220"/>
          </a:xfrm>
          <a:prstGeom prst="rect">
            <a:avLst/>
          </a:prstGeom>
          <a:noFill/>
        </p:spPr>
        <p:txBody>
          <a:bodyPr wrap="none" rtlCol="0">
            <a:spAutoFit/>
          </a:bodyPr>
          <a:lstStyle/>
          <a:p>
            <a:r>
              <a:rPr lang="en-US" sz="28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Inputs</a:t>
            </a:r>
            <a:endParaRPr lang="en-IN" sz="28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55E335D2-969E-4D4F-BEB2-331E126F2C2A}"/>
              </a:ext>
            </a:extLst>
          </p:cNvPr>
          <p:cNvSpPr txBox="1"/>
          <p:nvPr/>
        </p:nvSpPr>
        <p:spPr>
          <a:xfrm>
            <a:off x="500063" y="1363860"/>
            <a:ext cx="4371975" cy="2893100"/>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Student Details</a:t>
            </a:r>
            <a:endParaRPr lang="en-US" sz="2400" dirty="0">
              <a:latin typeface="Times New Roman" panose="02020603050405020304" pitchFamily="18" charset="0"/>
              <a:cs typeface="Times New Roman" panose="02020603050405020304" pitchFamily="18" charset="0"/>
            </a:endParaRPr>
          </a:p>
          <a:p>
            <a:pPr marL="457200" lvl="0" indent="-457200">
              <a:buFont typeface="+mj-lt"/>
              <a:buAutoNum type="arabicPeriod"/>
            </a:pPr>
            <a:r>
              <a:rPr lang="en-IN" sz="2000" dirty="0"/>
              <a:t>Roll Number</a:t>
            </a:r>
          </a:p>
          <a:p>
            <a:pPr marL="457200" lvl="0" indent="-457200">
              <a:buFont typeface="+mj-lt"/>
              <a:buAutoNum type="arabicPeriod"/>
            </a:pPr>
            <a:r>
              <a:rPr lang="en-IN" sz="2000" dirty="0"/>
              <a:t>Name</a:t>
            </a:r>
          </a:p>
          <a:p>
            <a:pPr marL="457200" lvl="0" indent="-457200">
              <a:buFont typeface="+mj-lt"/>
              <a:buAutoNum type="arabicPeriod"/>
            </a:pPr>
            <a:r>
              <a:rPr lang="en-IN" sz="2000" dirty="0"/>
              <a:t>Section</a:t>
            </a:r>
          </a:p>
          <a:p>
            <a:pPr marL="457200" lvl="0" indent="-457200">
              <a:buFont typeface="+mj-lt"/>
              <a:buAutoNum type="arabicPeriod"/>
            </a:pPr>
            <a:r>
              <a:rPr lang="en-IN" sz="2000" dirty="0"/>
              <a:t>Gender</a:t>
            </a:r>
          </a:p>
          <a:p>
            <a:pPr marL="457200" lvl="0" indent="-457200">
              <a:buFont typeface="+mj-lt"/>
              <a:buAutoNum type="arabicPeriod"/>
            </a:pPr>
            <a:r>
              <a:rPr lang="en-IN" sz="2000" dirty="0"/>
              <a:t>Mobile Number</a:t>
            </a:r>
          </a:p>
          <a:p>
            <a:pPr marL="457200" lvl="0" indent="-457200">
              <a:buFont typeface="+mj-lt"/>
              <a:buAutoNum type="arabicPeriod"/>
            </a:pPr>
            <a:r>
              <a:rPr lang="en-IN" sz="2000" dirty="0"/>
              <a:t>Email</a:t>
            </a:r>
          </a:p>
          <a:p>
            <a:pPr marL="457200" lvl="0" indent="-457200">
              <a:buFont typeface="+mj-lt"/>
              <a:buAutoNum type="arabicPeriod"/>
            </a:pPr>
            <a:r>
              <a:rPr lang="en-IN" sz="2000" dirty="0"/>
              <a:t>Address</a:t>
            </a:r>
          </a:p>
          <a:p>
            <a:endParaRPr lang="en-IN"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A28E0114-48DC-48CE-9BF2-02FA19FBDD23}"/>
              </a:ext>
            </a:extLst>
          </p:cNvPr>
          <p:cNvSpPr txBox="1"/>
          <p:nvPr/>
        </p:nvSpPr>
        <p:spPr>
          <a:xfrm>
            <a:off x="3659980" y="1363860"/>
            <a:ext cx="2935099" cy="2893100"/>
          </a:xfrm>
          <a:prstGeom prst="rect">
            <a:avLst/>
          </a:prstGeom>
          <a:noFill/>
        </p:spPr>
        <p:txBody>
          <a:bodyPr wrap="none" rtlCol="0">
            <a:spAutoFit/>
          </a:bodyPr>
          <a:lstStyle/>
          <a:p>
            <a:r>
              <a:rPr lang="en-IN" sz="2400" b="1" dirty="0"/>
              <a:t>Marks Details</a:t>
            </a:r>
            <a:endParaRPr lang="en-IN" sz="2400" dirty="0"/>
          </a:p>
          <a:p>
            <a:pPr marL="457200" lvl="0" indent="-457200">
              <a:buFont typeface="+mj-lt"/>
              <a:buAutoNum type="arabicPeriod"/>
            </a:pPr>
            <a:r>
              <a:rPr lang="en-IN" sz="2000" dirty="0"/>
              <a:t>Number of subjects</a:t>
            </a:r>
          </a:p>
          <a:p>
            <a:pPr marL="457200" lvl="0" indent="-457200">
              <a:buFont typeface="+mj-lt"/>
              <a:buAutoNum type="arabicPeriod"/>
            </a:pPr>
            <a:r>
              <a:rPr lang="en-IN" sz="2000" dirty="0"/>
              <a:t>Marks in each subject</a:t>
            </a:r>
          </a:p>
          <a:p>
            <a:endParaRPr lang="en-US" sz="2000" dirty="0">
              <a:latin typeface="Times New Roman" panose="02020603050405020304" pitchFamily="18" charset="0"/>
              <a:cs typeface="Times New Roman" panose="02020603050405020304" pitchFamily="18" charset="0"/>
            </a:endParaRPr>
          </a:p>
          <a:p>
            <a:r>
              <a:rPr lang="en-IN" sz="2000" b="1" dirty="0"/>
              <a:t>Other Inputs</a:t>
            </a:r>
            <a:endParaRPr lang="en-IN" sz="2000" dirty="0"/>
          </a:p>
          <a:p>
            <a:pPr marL="457200" lvl="0" indent="-457200">
              <a:buFont typeface="+mj-lt"/>
              <a:buAutoNum type="arabicPeriod"/>
            </a:pPr>
            <a:r>
              <a:rPr lang="en-IN" sz="2000" dirty="0"/>
              <a:t>Roll number to search</a:t>
            </a:r>
          </a:p>
          <a:p>
            <a:pPr marL="457200" lvl="0" indent="-457200">
              <a:buFont typeface="+mj-lt"/>
              <a:buAutoNum type="arabicPeriod"/>
            </a:pPr>
            <a:r>
              <a:rPr lang="en-IN" sz="2000" dirty="0"/>
              <a:t>Name to search</a:t>
            </a:r>
          </a:p>
          <a:p>
            <a:pPr marL="457200" lvl="0" indent="-457200">
              <a:buFont typeface="+mj-lt"/>
              <a:buAutoNum type="arabicPeriod"/>
            </a:pPr>
            <a:r>
              <a:rPr lang="en-IN" sz="2000" dirty="0"/>
              <a:t>Menu choice</a:t>
            </a:r>
          </a:p>
          <a:p>
            <a:endParaRPr lang="en-IN"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F04BB13C-9195-9033-4A4F-049C137177D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99081" y="1297119"/>
            <a:ext cx="4152900" cy="4457700"/>
          </a:xfrm>
          <a:prstGeom prst="rect">
            <a:avLst/>
          </a:prstGeom>
        </p:spPr>
      </p:pic>
    </p:spTree>
    <p:extLst>
      <p:ext uri="{BB962C8B-B14F-4D97-AF65-F5344CB8AC3E}">
        <p14:creationId xmlns:p14="http://schemas.microsoft.com/office/powerpoint/2010/main" val="14206323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3">
            <a:extLst>
              <a:ext uri="{FF2B5EF4-FFF2-40B4-BE49-F238E27FC236}">
                <a16:creationId xmlns:a16="http://schemas.microsoft.com/office/drawing/2014/main" id="{A1BA0BB6-CB03-4C07-BE23-84458EE0CDCD}"/>
              </a:ext>
            </a:extLst>
          </p:cNvPr>
          <p:cNvGrpSpPr/>
          <p:nvPr/>
        </p:nvGrpSpPr>
        <p:grpSpPr>
          <a:xfrm>
            <a:off x="3424237" y="165549"/>
            <a:ext cx="5103904" cy="1198311"/>
            <a:chOff x="2648188" y="47148"/>
            <a:chExt cx="5103904" cy="1198311"/>
          </a:xfrm>
        </p:grpSpPr>
        <p:pic>
          <p:nvPicPr>
            <p:cNvPr id="3" name="object 4">
              <a:extLst>
                <a:ext uri="{FF2B5EF4-FFF2-40B4-BE49-F238E27FC236}">
                  <a16:creationId xmlns:a16="http://schemas.microsoft.com/office/drawing/2014/main" id="{0F78DF24-28B1-445F-BD35-B41F6F8A7598}"/>
                </a:ext>
              </a:extLst>
            </p:cNvPr>
            <p:cNvPicPr/>
            <p:nvPr/>
          </p:nvPicPr>
          <p:blipFill>
            <a:blip r:embed="rId2"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8A0EA65D-0929-4FA7-93C7-B6ECBED74A30}"/>
                </a:ext>
              </a:extLst>
            </p:cNvPr>
            <p:cNvPicPr/>
            <p:nvPr/>
          </p:nvPicPr>
          <p:blipFill>
            <a:blip r:embed="rId3"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0BBE3A0A-34E4-4EFB-9ABE-9D231D9B54C8}"/>
                </a:ext>
              </a:extLst>
            </p:cNvPr>
            <p:cNvPicPr/>
            <p:nvPr/>
          </p:nvPicPr>
          <p:blipFill>
            <a:blip r:embed="rId4"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352B2D94-02E3-4BC8-A5DB-D1BD68BFB010}"/>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7" name="TextBox 6">
            <a:extLst>
              <a:ext uri="{FF2B5EF4-FFF2-40B4-BE49-F238E27FC236}">
                <a16:creationId xmlns:a16="http://schemas.microsoft.com/office/drawing/2014/main" id="{7E2D6106-7A01-441B-B7FB-2A3735EAA261}"/>
              </a:ext>
            </a:extLst>
          </p:cNvPr>
          <p:cNvSpPr txBox="1"/>
          <p:nvPr/>
        </p:nvSpPr>
        <p:spPr>
          <a:xfrm>
            <a:off x="4501266" y="347962"/>
            <a:ext cx="2949846" cy="523220"/>
          </a:xfrm>
          <a:prstGeom prst="rect">
            <a:avLst/>
          </a:prstGeom>
          <a:noFill/>
        </p:spPr>
        <p:txBody>
          <a:bodyPr wrap="none" rtlCol="0">
            <a:spAutoFit/>
          </a:bodyPr>
          <a:lstStyle/>
          <a:p>
            <a:r>
              <a:rPr lang="en-US" sz="28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Expected Outputs</a:t>
            </a:r>
            <a:endParaRPr lang="en-IN" sz="28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0" name="Rectangle 2">
            <a:extLst>
              <a:ext uri="{FF2B5EF4-FFF2-40B4-BE49-F238E27FC236}">
                <a16:creationId xmlns:a16="http://schemas.microsoft.com/office/drawing/2014/main" id="{CEC657C4-6247-4C17-A702-85776E78FEBD}"/>
              </a:ext>
            </a:extLst>
          </p:cNvPr>
          <p:cNvSpPr>
            <a:spLocks noChangeArrowheads="1"/>
          </p:cNvSpPr>
          <p:nvPr/>
        </p:nvSpPr>
        <p:spPr bwMode="auto">
          <a:xfrm>
            <a:off x="728330" y="1182180"/>
            <a:ext cx="5070875" cy="4985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a:buFont typeface="Wingdings" pitchFamily="2" charset="2"/>
              <a:buChar char="§"/>
            </a:pPr>
            <a:r>
              <a:rPr lang="en-IN" sz="2000" dirty="0"/>
              <a:t>Confirmation that a student is added</a:t>
            </a:r>
          </a:p>
          <a:p>
            <a:pPr marL="342900" lvl="0" indent="-342900">
              <a:buFont typeface="Wingdings" pitchFamily="2" charset="2"/>
              <a:buChar char="§"/>
            </a:pPr>
            <a:r>
              <a:rPr lang="en-IN" sz="2000" dirty="0"/>
              <a:t>List of all student records in table form</a:t>
            </a:r>
          </a:p>
          <a:p>
            <a:pPr marL="342900" lvl="0" indent="-342900">
              <a:buFont typeface="Wingdings" pitchFamily="2" charset="2"/>
              <a:buChar char="§"/>
            </a:pPr>
            <a:r>
              <a:rPr lang="en-IN" sz="2000" dirty="0"/>
              <a:t>Full details of a searched student</a:t>
            </a:r>
          </a:p>
          <a:p>
            <a:pPr marL="342900" lvl="0" indent="-342900">
              <a:buFont typeface="Wingdings" pitchFamily="2" charset="2"/>
              <a:buChar char="§"/>
            </a:pPr>
            <a:r>
              <a:rPr lang="en-IN" sz="2000" dirty="0"/>
              <a:t>"Student not found" message when there</a:t>
            </a:r>
          </a:p>
          <a:p>
            <a:pPr lvl="0"/>
            <a:r>
              <a:rPr lang="en-IN" sz="2000" dirty="0"/>
              <a:t>       is no match</a:t>
            </a:r>
          </a:p>
          <a:p>
            <a:pPr marL="342900" lvl="0" indent="-342900">
              <a:buFont typeface="Wingdings" pitchFamily="2" charset="2"/>
              <a:buChar char="§"/>
            </a:pPr>
            <a:r>
              <a:rPr lang="en-IN" sz="2000" dirty="0"/>
              <a:t>Name in the formatted style</a:t>
            </a:r>
          </a:p>
          <a:p>
            <a:pPr marL="342900" lvl="0" indent="-342900">
              <a:buFont typeface="Wingdings" pitchFamily="2" charset="2"/>
              <a:buChar char="§"/>
            </a:pPr>
            <a:r>
              <a:rPr lang="en-IN" sz="2000" dirty="0"/>
              <a:t>Length of the name</a:t>
            </a:r>
          </a:p>
          <a:p>
            <a:pPr marL="342900" lvl="0" indent="-342900">
              <a:buFont typeface="Wingdings" pitchFamily="2" charset="2"/>
              <a:buChar char="§"/>
            </a:pPr>
            <a:r>
              <a:rPr lang="en-IN" sz="2000" dirty="0"/>
              <a:t>Total marks of each student</a:t>
            </a:r>
          </a:p>
          <a:p>
            <a:pPr marL="342900" lvl="0" indent="-342900">
              <a:buFont typeface="Wingdings" pitchFamily="2" charset="2"/>
              <a:buChar char="§"/>
            </a:pPr>
            <a:r>
              <a:rPr lang="en-IN" sz="2000" dirty="0"/>
              <a:t>Average marks of each student</a:t>
            </a:r>
          </a:p>
          <a:p>
            <a:pPr marL="342900" lvl="0" indent="-342900">
              <a:buFont typeface="Wingdings" pitchFamily="2" charset="2"/>
              <a:buChar char="§"/>
            </a:pPr>
            <a:r>
              <a:rPr lang="en-IN" sz="2000" dirty="0"/>
              <a:t>Highest marks with the student's name</a:t>
            </a:r>
          </a:p>
          <a:p>
            <a:pPr marL="342900" lvl="0" indent="-342900">
              <a:buFont typeface="Wingdings" pitchFamily="2" charset="2"/>
              <a:buChar char="§"/>
            </a:pPr>
            <a:r>
              <a:rPr lang="en-IN" sz="2000" dirty="0"/>
              <a:t>Lowest marks with the student's name</a:t>
            </a:r>
          </a:p>
          <a:p>
            <a:pPr marL="342900" lvl="0" indent="-342900">
              <a:buFont typeface="Wingdings" pitchFamily="2" charset="2"/>
              <a:buChar char="§"/>
            </a:pPr>
            <a:r>
              <a:rPr lang="en-IN" sz="2000" dirty="0"/>
              <a:t>Class average marks</a:t>
            </a:r>
          </a:p>
          <a:p>
            <a:pPr marL="342900" lvl="0" indent="-342900">
              <a:buFont typeface="Wingdings" pitchFamily="2" charset="2"/>
              <a:buChar char="§"/>
            </a:pPr>
            <a:r>
              <a:rPr lang="en-IN" sz="2000" dirty="0"/>
              <a:t>Error messages for invalid input</a:t>
            </a:r>
          </a:p>
          <a:p>
            <a:pPr marL="342900" lvl="0" indent="-342900">
              <a:buFont typeface="Wingdings" pitchFamily="2" charset="2"/>
              <a:buChar char="§"/>
            </a:pPr>
            <a:r>
              <a:rPr lang="en-IN" sz="2000" dirty="0"/>
              <a:t>Menu displayed again after every operation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B91DBD56-5D5D-5BA8-411B-F86EDEF5BCF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47101" y="1336410"/>
            <a:ext cx="3378857" cy="4852103"/>
          </a:xfrm>
          <a:prstGeom prst="rect">
            <a:avLst/>
          </a:prstGeom>
        </p:spPr>
      </p:pic>
    </p:spTree>
    <p:extLst>
      <p:ext uri="{BB962C8B-B14F-4D97-AF65-F5344CB8AC3E}">
        <p14:creationId xmlns:p14="http://schemas.microsoft.com/office/powerpoint/2010/main" val="35178285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35DFF21-8BF8-4F74-D781-0D61350D8E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9299" y="0"/>
            <a:ext cx="5533402" cy="6858000"/>
          </a:xfrm>
          <a:prstGeom prst="rect">
            <a:avLst/>
          </a:prstGeom>
        </p:spPr>
      </p:pic>
    </p:spTree>
    <p:extLst>
      <p:ext uri="{BB962C8B-B14F-4D97-AF65-F5344CB8AC3E}">
        <p14:creationId xmlns:p14="http://schemas.microsoft.com/office/powerpoint/2010/main" val="35071107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a:extLst>
              <a:ext uri="{FF2B5EF4-FFF2-40B4-BE49-F238E27FC236}">
                <a16:creationId xmlns:a16="http://schemas.microsoft.com/office/drawing/2014/main" id="{53F543A9-CF48-4DA7-84C4-F8C155E57FDD}"/>
              </a:ext>
            </a:extLst>
          </p:cNvPr>
          <p:cNvGrpSpPr/>
          <p:nvPr/>
        </p:nvGrpSpPr>
        <p:grpSpPr>
          <a:xfrm>
            <a:off x="3424237" y="165549"/>
            <a:ext cx="5103904" cy="1198311"/>
            <a:chOff x="2648188" y="47148"/>
            <a:chExt cx="5103904" cy="1198311"/>
          </a:xfrm>
        </p:grpSpPr>
        <p:pic>
          <p:nvPicPr>
            <p:cNvPr id="4" name="object 4">
              <a:extLst>
                <a:ext uri="{FF2B5EF4-FFF2-40B4-BE49-F238E27FC236}">
                  <a16:creationId xmlns:a16="http://schemas.microsoft.com/office/drawing/2014/main" id="{0D8E6388-D211-430F-9C2C-27141223AB29}"/>
                </a:ext>
              </a:extLst>
            </p:cNvPr>
            <p:cNvPicPr/>
            <p:nvPr/>
          </p:nvPicPr>
          <p:blipFill>
            <a:blip r:embed="rId2" cstate="print"/>
            <a:stretch>
              <a:fillRect/>
            </a:stretch>
          </p:blipFill>
          <p:spPr>
            <a:xfrm>
              <a:off x="2648188" y="47148"/>
              <a:ext cx="5103904" cy="1198311"/>
            </a:xfrm>
            <a:prstGeom prst="rect">
              <a:avLst/>
            </a:prstGeom>
          </p:spPr>
        </p:pic>
        <p:pic>
          <p:nvPicPr>
            <p:cNvPr id="5" name="object 5">
              <a:extLst>
                <a:ext uri="{FF2B5EF4-FFF2-40B4-BE49-F238E27FC236}">
                  <a16:creationId xmlns:a16="http://schemas.microsoft.com/office/drawing/2014/main" id="{3D5D241C-7BFD-4EF1-9733-C423818BB952}"/>
                </a:ext>
              </a:extLst>
            </p:cNvPr>
            <p:cNvPicPr/>
            <p:nvPr/>
          </p:nvPicPr>
          <p:blipFill>
            <a:blip r:embed="rId3" cstate="print"/>
            <a:stretch>
              <a:fillRect/>
            </a:stretch>
          </p:blipFill>
          <p:spPr>
            <a:xfrm>
              <a:off x="2703195" y="86439"/>
              <a:ext cx="4997767" cy="1092279"/>
            </a:xfrm>
            <a:prstGeom prst="rect">
              <a:avLst/>
            </a:prstGeom>
          </p:spPr>
        </p:pic>
        <p:pic>
          <p:nvPicPr>
            <p:cNvPr id="6" name="object 6">
              <a:extLst>
                <a:ext uri="{FF2B5EF4-FFF2-40B4-BE49-F238E27FC236}">
                  <a16:creationId xmlns:a16="http://schemas.microsoft.com/office/drawing/2014/main" id="{F08651B7-CF2A-4710-B1D4-538F5D5984C4}"/>
                </a:ext>
              </a:extLst>
            </p:cNvPr>
            <p:cNvPicPr/>
            <p:nvPr/>
          </p:nvPicPr>
          <p:blipFill>
            <a:blip r:embed="rId4" cstate="print"/>
            <a:stretch>
              <a:fillRect/>
            </a:stretch>
          </p:blipFill>
          <p:spPr>
            <a:xfrm>
              <a:off x="2828925" y="243549"/>
              <a:ext cx="4585268" cy="522565"/>
            </a:xfrm>
            <a:prstGeom prst="rect">
              <a:avLst/>
            </a:prstGeom>
          </p:spPr>
        </p:pic>
        <p:sp>
          <p:nvSpPr>
            <p:cNvPr id="7" name="object 7">
              <a:extLst>
                <a:ext uri="{FF2B5EF4-FFF2-40B4-BE49-F238E27FC236}">
                  <a16:creationId xmlns:a16="http://schemas.microsoft.com/office/drawing/2014/main" id="{2763AD70-AB75-4FB7-BAB3-DE871649081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8" name="TextBox 7">
            <a:extLst>
              <a:ext uri="{FF2B5EF4-FFF2-40B4-BE49-F238E27FC236}">
                <a16:creationId xmlns:a16="http://schemas.microsoft.com/office/drawing/2014/main" id="{6E9B45FA-0EE4-4025-A008-DB66AC5A2FAC}"/>
              </a:ext>
            </a:extLst>
          </p:cNvPr>
          <p:cNvSpPr txBox="1"/>
          <p:nvPr/>
        </p:nvSpPr>
        <p:spPr>
          <a:xfrm>
            <a:off x="4259627" y="330391"/>
            <a:ext cx="3275961" cy="523220"/>
          </a:xfrm>
          <a:prstGeom prst="rect">
            <a:avLst/>
          </a:prstGeom>
          <a:noFill/>
        </p:spPr>
        <p:txBody>
          <a:bodyPr wrap="none" rtlCol="0">
            <a:spAutoFit/>
          </a:bodyPr>
          <a:lstStyle/>
          <a:p>
            <a:r>
              <a:rPr lang="en-US" sz="28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Team Contributions</a:t>
            </a:r>
            <a:endParaRPr lang="en-IN" sz="28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D0C61D32-990D-424E-8E09-568F53EB2506}"/>
              </a:ext>
            </a:extLst>
          </p:cNvPr>
          <p:cNvSpPr txBox="1"/>
          <p:nvPr/>
        </p:nvSpPr>
        <p:spPr>
          <a:xfrm>
            <a:off x="5897607" y="1595021"/>
            <a:ext cx="184731" cy="830997"/>
          </a:xfrm>
          <a:prstGeom prst="rect">
            <a:avLst/>
          </a:prstGeom>
          <a:noFill/>
        </p:spPr>
        <p:txBody>
          <a:bodyPr wrap="none" rtlCol="0">
            <a:spAutoFit/>
          </a:bodyPr>
          <a:lstStyle/>
          <a:p>
            <a:endParaRPr lang="en-IN" sz="2400" dirty="0">
              <a:latin typeface="Times New Roman" panose="02020603050405020304" pitchFamily="18" charset="0"/>
              <a:cs typeface="Times New Roman" panose="02020603050405020304" pitchFamily="18" charset="0"/>
            </a:endParaRPr>
          </a:p>
          <a:p>
            <a:endParaRPr lang="en-IN" sz="2400" dirty="0"/>
          </a:p>
        </p:txBody>
      </p:sp>
      <p:graphicFrame>
        <p:nvGraphicFramePr>
          <p:cNvPr id="11" name="Table 10">
            <a:extLst>
              <a:ext uri="{FF2B5EF4-FFF2-40B4-BE49-F238E27FC236}">
                <a16:creationId xmlns:a16="http://schemas.microsoft.com/office/drawing/2014/main" id="{F5C1683F-984F-A8E5-143E-701736DD9998}"/>
              </a:ext>
            </a:extLst>
          </p:cNvPr>
          <p:cNvGraphicFramePr>
            <a:graphicFrameLocks noGrp="1"/>
          </p:cNvGraphicFramePr>
          <p:nvPr>
            <p:extLst>
              <p:ext uri="{D42A27DB-BD31-4B8C-83A1-F6EECF244321}">
                <p14:modId xmlns:p14="http://schemas.microsoft.com/office/powerpoint/2010/main" val="2694265814"/>
              </p:ext>
            </p:extLst>
          </p:nvPr>
        </p:nvGraphicFramePr>
        <p:xfrm>
          <a:off x="974835" y="2189195"/>
          <a:ext cx="10515600" cy="2651760"/>
        </p:xfrm>
        <a:graphic>
          <a:graphicData uri="http://schemas.openxmlformats.org/drawingml/2006/table">
            <a:tbl>
              <a:tblPr>
                <a:tableStyleId>{5C22544A-7EE6-4342-B048-85BDC9FD1C3A}</a:tableStyleId>
              </a:tblPr>
              <a:tblGrid>
                <a:gridCol w="3505200">
                  <a:extLst>
                    <a:ext uri="{9D8B030D-6E8A-4147-A177-3AD203B41FA5}">
                      <a16:colId xmlns:a16="http://schemas.microsoft.com/office/drawing/2014/main" val="1994645224"/>
                    </a:ext>
                  </a:extLst>
                </a:gridCol>
                <a:gridCol w="3505200">
                  <a:extLst>
                    <a:ext uri="{9D8B030D-6E8A-4147-A177-3AD203B41FA5}">
                      <a16:colId xmlns:a16="http://schemas.microsoft.com/office/drawing/2014/main" val="3203803266"/>
                    </a:ext>
                  </a:extLst>
                </a:gridCol>
                <a:gridCol w="3505200">
                  <a:extLst>
                    <a:ext uri="{9D8B030D-6E8A-4147-A177-3AD203B41FA5}">
                      <a16:colId xmlns:a16="http://schemas.microsoft.com/office/drawing/2014/main" val="1277734165"/>
                    </a:ext>
                  </a:extLst>
                </a:gridCol>
              </a:tblGrid>
              <a:tr h="0">
                <a:tc>
                  <a:txBody>
                    <a:bodyPr/>
                    <a:lstStyle/>
                    <a:p>
                      <a:pPr>
                        <a:buNone/>
                      </a:pPr>
                      <a:r>
                        <a:rPr lang="en-IN"/>
                        <a:t>Roll No.</a:t>
                      </a:r>
                    </a:p>
                  </a:txBody>
                  <a:tcPr anchor="ctr"/>
                </a:tc>
                <a:tc>
                  <a:txBody>
                    <a:bodyPr/>
                    <a:lstStyle/>
                    <a:p>
                      <a:pPr>
                        <a:buNone/>
                      </a:pPr>
                      <a:r>
                        <a:rPr lang="en-IN"/>
                        <a:t>Team Member</a:t>
                      </a:r>
                    </a:p>
                  </a:txBody>
                  <a:tcPr anchor="ctr"/>
                </a:tc>
                <a:tc>
                  <a:txBody>
                    <a:bodyPr/>
                    <a:lstStyle/>
                    <a:p>
                      <a:pPr>
                        <a:buNone/>
                      </a:pPr>
                      <a:r>
                        <a:rPr lang="en-IN"/>
                        <a:t>Contribution</a:t>
                      </a:r>
                    </a:p>
                  </a:txBody>
                  <a:tcPr anchor="ctr"/>
                </a:tc>
                <a:extLst>
                  <a:ext uri="{0D108BD9-81ED-4DB2-BD59-A6C34878D82A}">
                    <a16:rowId xmlns:a16="http://schemas.microsoft.com/office/drawing/2014/main" val="4143887653"/>
                  </a:ext>
                </a:extLst>
              </a:tr>
              <a:tr h="0">
                <a:tc>
                  <a:txBody>
                    <a:bodyPr/>
                    <a:lstStyle/>
                    <a:p>
                      <a:pPr>
                        <a:buNone/>
                      </a:pPr>
                      <a:r>
                        <a:rPr lang="en-IN"/>
                        <a:t>25B11AI494</a:t>
                      </a:r>
                    </a:p>
                  </a:txBody>
                  <a:tcPr anchor="ctr"/>
                </a:tc>
                <a:tc>
                  <a:txBody>
                    <a:bodyPr/>
                    <a:lstStyle/>
                    <a:p>
                      <a:pPr>
                        <a:buNone/>
                      </a:pPr>
                      <a:r>
                        <a:rPr lang="en-IN"/>
                        <a:t>K Hemanth Sai Venkata Vidya Sagar</a:t>
                      </a:r>
                    </a:p>
                  </a:txBody>
                  <a:tcPr anchor="ctr"/>
                </a:tc>
                <a:tc>
                  <a:txBody>
                    <a:bodyPr/>
                    <a:lstStyle/>
                    <a:p>
                      <a:pPr>
                        <a:buNone/>
                      </a:pPr>
                      <a:r>
                        <a:rPr lang="en-IN"/>
                        <a:t>OOP Class Design &amp; Student Management</a:t>
                      </a:r>
                    </a:p>
                  </a:txBody>
                  <a:tcPr anchor="ctr"/>
                </a:tc>
                <a:extLst>
                  <a:ext uri="{0D108BD9-81ED-4DB2-BD59-A6C34878D82A}">
                    <a16:rowId xmlns:a16="http://schemas.microsoft.com/office/drawing/2014/main" val="3287423351"/>
                  </a:ext>
                </a:extLst>
              </a:tr>
              <a:tr h="0">
                <a:tc>
                  <a:txBody>
                    <a:bodyPr/>
                    <a:lstStyle/>
                    <a:p>
                      <a:pPr>
                        <a:buNone/>
                      </a:pPr>
                      <a:r>
                        <a:rPr lang="en-IN"/>
                        <a:t>25B11AI084</a:t>
                      </a:r>
                    </a:p>
                  </a:txBody>
                  <a:tcPr anchor="ctr"/>
                </a:tc>
                <a:tc>
                  <a:txBody>
                    <a:bodyPr/>
                    <a:lstStyle/>
                    <a:p>
                      <a:pPr>
                        <a:buNone/>
                      </a:pPr>
                      <a:r>
                        <a:rPr lang="en-IN"/>
                        <a:t>B Ganesh</a:t>
                      </a:r>
                    </a:p>
                  </a:txBody>
                  <a:tcPr anchor="ctr"/>
                </a:tc>
                <a:tc>
                  <a:txBody>
                    <a:bodyPr/>
                    <a:lstStyle/>
                    <a:p>
                      <a:pPr>
                        <a:buNone/>
                      </a:pPr>
                      <a:r>
                        <a:rPr lang="en-IN"/>
                        <a:t>Student Data &amp; Marks Management</a:t>
                      </a:r>
                    </a:p>
                  </a:txBody>
                  <a:tcPr anchor="ctr"/>
                </a:tc>
                <a:extLst>
                  <a:ext uri="{0D108BD9-81ED-4DB2-BD59-A6C34878D82A}">
                    <a16:rowId xmlns:a16="http://schemas.microsoft.com/office/drawing/2014/main" val="1408445022"/>
                  </a:ext>
                </a:extLst>
              </a:tr>
              <a:tr h="160918">
                <a:tc>
                  <a:txBody>
                    <a:bodyPr/>
                    <a:lstStyle/>
                    <a:p>
                      <a:pPr>
                        <a:buNone/>
                      </a:pPr>
                      <a:r>
                        <a:rPr lang="en-IN"/>
                        <a:t>25B11AI320</a:t>
                      </a:r>
                    </a:p>
                  </a:txBody>
                  <a:tcPr anchor="ctr"/>
                </a:tc>
                <a:tc>
                  <a:txBody>
                    <a:bodyPr/>
                    <a:lstStyle/>
                    <a:p>
                      <a:pPr>
                        <a:buNone/>
                      </a:pPr>
                      <a:r>
                        <a:rPr lang="en-IN"/>
                        <a:t>G Sai</a:t>
                      </a:r>
                    </a:p>
                  </a:txBody>
                  <a:tcPr anchor="ctr"/>
                </a:tc>
                <a:tc>
                  <a:txBody>
                    <a:bodyPr/>
                    <a:lstStyle/>
                    <a:p>
                      <a:pPr>
                        <a:buNone/>
                      </a:pPr>
                      <a:r>
                        <a:rPr lang="en-IN"/>
                        <a:t>Search, Marks Analysis &amp; Testing</a:t>
                      </a:r>
                    </a:p>
                  </a:txBody>
                  <a:tcPr anchor="ctr"/>
                </a:tc>
                <a:extLst>
                  <a:ext uri="{0D108BD9-81ED-4DB2-BD59-A6C34878D82A}">
                    <a16:rowId xmlns:a16="http://schemas.microsoft.com/office/drawing/2014/main" val="1828611010"/>
                  </a:ext>
                </a:extLst>
              </a:tr>
              <a:tr h="0">
                <a:tc>
                  <a:txBody>
                    <a:bodyPr/>
                    <a:lstStyle/>
                    <a:p>
                      <a:pPr>
                        <a:buNone/>
                      </a:pPr>
                      <a:r>
                        <a:rPr lang="en-IN"/>
                        <a:t>26B21AI0132</a:t>
                      </a:r>
                    </a:p>
                  </a:txBody>
                  <a:tcPr anchor="ctr"/>
                </a:tc>
                <a:tc>
                  <a:txBody>
                    <a:bodyPr/>
                    <a:lstStyle/>
                    <a:p>
                      <a:pPr>
                        <a:buNone/>
                      </a:pPr>
                      <a:r>
                        <a:rPr lang="en-IN" dirty="0"/>
                        <a:t>A </a:t>
                      </a:r>
                      <a:r>
                        <a:rPr lang="en-IN" dirty="0" err="1"/>
                        <a:t>Keerthu</a:t>
                      </a:r>
                      <a:r>
                        <a:rPr lang="en-IN" dirty="0"/>
                        <a:t> Praveen</a:t>
                      </a:r>
                    </a:p>
                  </a:txBody>
                  <a:tcPr anchor="ctr"/>
                </a:tc>
                <a:tc>
                  <a:txBody>
                    <a:bodyPr/>
                    <a:lstStyle/>
                    <a:p>
                      <a:pPr>
                        <a:buNone/>
                      </a:pPr>
                      <a:r>
                        <a:rPr lang="en-IN" dirty="0"/>
                        <a:t>Documentation, PPT &amp; Presentation</a:t>
                      </a:r>
                    </a:p>
                  </a:txBody>
                  <a:tcPr anchor="ctr"/>
                </a:tc>
                <a:extLst>
                  <a:ext uri="{0D108BD9-81ED-4DB2-BD59-A6C34878D82A}">
                    <a16:rowId xmlns:a16="http://schemas.microsoft.com/office/drawing/2014/main" val="736127175"/>
                  </a:ext>
                </a:extLst>
              </a:tr>
            </a:tbl>
          </a:graphicData>
        </a:graphic>
      </p:graphicFrame>
    </p:spTree>
    <p:extLst>
      <p:ext uri="{BB962C8B-B14F-4D97-AF65-F5344CB8AC3E}">
        <p14:creationId xmlns:p14="http://schemas.microsoft.com/office/powerpoint/2010/main" val="6209676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3">
            <a:extLst>
              <a:ext uri="{FF2B5EF4-FFF2-40B4-BE49-F238E27FC236}">
                <a16:creationId xmlns:a16="http://schemas.microsoft.com/office/drawing/2014/main" id="{86DDA432-CC14-4BCE-B6BB-9C06B964C1FD}"/>
              </a:ext>
            </a:extLst>
          </p:cNvPr>
          <p:cNvGrpSpPr/>
          <p:nvPr/>
        </p:nvGrpSpPr>
        <p:grpSpPr>
          <a:xfrm>
            <a:off x="3424237" y="165549"/>
            <a:ext cx="5103904" cy="1198311"/>
            <a:chOff x="2648188" y="47148"/>
            <a:chExt cx="5103904" cy="1198311"/>
          </a:xfrm>
        </p:grpSpPr>
        <p:pic>
          <p:nvPicPr>
            <p:cNvPr id="3" name="object 4">
              <a:extLst>
                <a:ext uri="{FF2B5EF4-FFF2-40B4-BE49-F238E27FC236}">
                  <a16:creationId xmlns:a16="http://schemas.microsoft.com/office/drawing/2014/main" id="{FA9F4DAF-FAE4-4833-A27D-FA3B1F0B12A0}"/>
                </a:ext>
              </a:extLst>
            </p:cNvPr>
            <p:cNvPicPr/>
            <p:nvPr/>
          </p:nvPicPr>
          <p:blipFill>
            <a:blip r:embed="rId2"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05A89760-CED1-4EFB-B9D7-9AE1D36612FC}"/>
                </a:ext>
              </a:extLst>
            </p:cNvPr>
            <p:cNvPicPr/>
            <p:nvPr/>
          </p:nvPicPr>
          <p:blipFill>
            <a:blip r:embed="rId3"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39631DB-0540-457F-86DE-3AF3C00BDEDD}"/>
                </a:ext>
              </a:extLst>
            </p:cNvPr>
            <p:cNvPicPr/>
            <p:nvPr/>
          </p:nvPicPr>
          <p:blipFill>
            <a:blip r:embed="rId4"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000755EB-6788-40AE-A90C-E06674D7AA0A}"/>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7" name="TextBox 6">
            <a:extLst>
              <a:ext uri="{FF2B5EF4-FFF2-40B4-BE49-F238E27FC236}">
                <a16:creationId xmlns:a16="http://schemas.microsoft.com/office/drawing/2014/main" id="{1B3C5528-65DD-4D31-AA66-F23878E22329}"/>
              </a:ext>
            </a:extLst>
          </p:cNvPr>
          <p:cNvSpPr txBox="1"/>
          <p:nvPr/>
        </p:nvSpPr>
        <p:spPr>
          <a:xfrm>
            <a:off x="5025447" y="363193"/>
            <a:ext cx="1901483" cy="523220"/>
          </a:xfrm>
          <a:prstGeom prst="rect">
            <a:avLst/>
          </a:prstGeom>
          <a:noFill/>
        </p:spPr>
        <p:txBody>
          <a:bodyPr wrap="none" rtlCol="0">
            <a:spAutoFit/>
          </a:bodyPr>
          <a:lstStyle/>
          <a:p>
            <a:r>
              <a:rPr lang="en-US" sz="28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Conclusion</a:t>
            </a:r>
            <a:endParaRPr lang="en-IN" sz="28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717C51F-A450-400B-B9EE-4791EBDBAA22}"/>
              </a:ext>
            </a:extLst>
          </p:cNvPr>
          <p:cNvSpPr txBox="1"/>
          <p:nvPr/>
        </p:nvSpPr>
        <p:spPr>
          <a:xfrm>
            <a:off x="678317" y="1167917"/>
            <a:ext cx="11287125" cy="6001643"/>
          </a:xfrm>
          <a:prstGeom prst="rect">
            <a:avLst/>
          </a:prstGeom>
          <a:noFill/>
        </p:spPr>
        <p:txBody>
          <a:bodyPr wrap="square" rtlCol="0">
            <a:spAutoFit/>
          </a:bodyPr>
          <a:lstStyle/>
          <a:p>
            <a:pPr>
              <a:lnSpc>
                <a:spcPct val="150000"/>
              </a:lnSpc>
            </a:pPr>
            <a:r>
              <a:rPr lang="en-IN" sz="2400" dirty="0"/>
              <a:t>To conclude, our project has moved from the planning stage to a working implementation of the Student Record Manager.</a:t>
            </a:r>
          </a:p>
          <a:p>
            <a:pPr>
              <a:lnSpc>
                <a:spcPct val="150000"/>
              </a:lnSpc>
            </a:pPr>
            <a:r>
              <a:rPr lang="en-IN" sz="2400" dirty="0"/>
              <a:t>At this stage, we can add student details, store them in an array of objects, display all records and search for any student by roll number or name.</a:t>
            </a:r>
          </a:p>
          <a:p>
            <a:pPr>
              <a:lnSpc>
                <a:spcPct val="150000"/>
              </a:lnSpc>
            </a:pPr>
            <a:r>
              <a:rPr lang="en-IN" sz="2400" dirty="0"/>
              <a:t>We have also implemented marks analysis to find the highest, lowest and average marks, and string handling to keep student names neat and consistent.</a:t>
            </a:r>
          </a:p>
          <a:p>
            <a:pPr>
              <a:lnSpc>
                <a:spcPct val="150000"/>
              </a:lnSpc>
            </a:pPr>
            <a:r>
              <a:rPr lang="en-IN" sz="2400" dirty="0"/>
              <a:t>The remaining work will focus on improving the interface, adding more validation and further testing.</a:t>
            </a:r>
          </a:p>
          <a:p>
            <a:pPr>
              <a:lnSpc>
                <a:spcPct val="150000"/>
              </a:lnSpc>
            </a:pPr>
            <a:r>
              <a:rPr lang="en-IN" sz="2400" dirty="0"/>
              <a:t>Overall, this project helped us apply classes, objects, arrays and strings in a practical program instead of using them only as separate concepts.</a:t>
            </a: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56643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1B84EE-C374-4A72-A89A-513DF23AE693}"/>
              </a:ext>
            </a:extLst>
          </p:cNvPr>
          <p:cNvSpPr txBox="1"/>
          <p:nvPr/>
        </p:nvSpPr>
        <p:spPr>
          <a:xfrm>
            <a:off x="4320514" y="2814638"/>
            <a:ext cx="3225114" cy="923330"/>
          </a:xfrm>
          <a:prstGeom prst="rect">
            <a:avLst/>
          </a:prstGeom>
          <a:noFill/>
        </p:spPr>
        <p:txBody>
          <a:bodyPr wrap="none" rtlCol="0">
            <a:spAutoFit/>
          </a:bodyPr>
          <a:lstStyle/>
          <a:p>
            <a:r>
              <a:rPr lang="en-US" sz="5400" u="sng" dirty="0">
                <a:latin typeface="Times New Roman" panose="02020603050405020304" pitchFamily="18" charset="0"/>
                <a:cs typeface="Times New Roman" panose="02020603050405020304" pitchFamily="18" charset="0"/>
              </a:rPr>
              <a:t>Thank You</a:t>
            </a:r>
            <a:endParaRPr lang="en-IN" sz="5400"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67480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Office Theme">
      <a:fillStyleLst>
        <a:solidFill>
          <a:schemeClr val="phClr"/>
        </a:solidFill>
        <a:gradFill rotWithShape="1">
          <a:gsLst>
            <a:gs pos="0">
              <a:schemeClr val="phClr">
                <a:tint val="67000"/>
                <a:satMod val="104999"/>
                <a:lumMod val="110000"/>
              </a:schemeClr>
            </a:gs>
            <a:gs pos="50000">
              <a:schemeClr val="phClr">
                <a:tint val="73000"/>
                <a:satMod val="103000"/>
                <a:lumMod val="104999"/>
              </a:schemeClr>
            </a:gs>
            <a:gs pos="100000">
              <a:schemeClr val="phClr">
                <a:tint val="81000"/>
                <a:satMod val="109000"/>
                <a:lumMod val="104999"/>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a:solidFill>
            <a:schemeClr val="phClr"/>
          </a:solidFill>
          <a:prstDash val="solid"/>
          <a:miter lim="800000"/>
        </a:ln>
        <a:ln w="12700" cap="flat">
          <a:solidFill>
            <a:schemeClr val="phClr"/>
          </a:solidFill>
          <a:prstDash val="solid"/>
          <a:miter lim="800000"/>
        </a:ln>
        <a:ln w="19050" cap="flat">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721</TotalTime>
  <Words>1294</Words>
  <Application>Microsoft Macintosh PowerPoint</Application>
  <PresentationFormat>Widescreen</PresentationFormat>
  <Paragraphs>201</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Times New Roman</vt:lpstr>
      <vt:lpstr>Bookman Old Style</vt:lpstr>
      <vt:lpstr>Arial</vt:lpstr>
      <vt:lpstr>Calibri Light</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HP</dc:creator>
  <cp:lastModifiedBy>25B11AI494</cp:lastModifiedBy>
  <cp:revision>117</cp:revision>
  <dcterms:created xsi:type="dcterms:W3CDTF">2025-05-29T13:02:32Z</dcterms:created>
  <dcterms:modified xsi:type="dcterms:W3CDTF">2026-10-24T09:04:51Z</dcterms:modified>
</cp:coreProperties>
</file>